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E38440-44CC-4C25-A54E-E6682FA1D999}" type="doc">
      <dgm:prSet loTypeId="urn:microsoft.com/office/officeart/2005/8/layout/orgChart1#1" loCatId="hierarchy" qsTypeId="urn:microsoft.com/office/officeart/2005/8/quickstyle/simple1#1" qsCatId="simple" csTypeId="urn:microsoft.com/office/officeart/2005/8/colors/accent1_2#1" csCatId="accent1" phldr="1"/>
      <dgm:spPr/>
    </dgm:pt>
    <dgm:pt modelId="{8098DDB4-446D-4C15-ADEE-DE0F9D55647D}">
      <dgm:prSet custT="1"/>
      <dgm:spPr>
        <a:solidFill>
          <a:schemeClr val="bg1">
            <a:lumMod val="85000"/>
          </a:schemeClr>
        </a:solidFill>
        <a:ln w="3175">
          <a:solidFill>
            <a:schemeClr val="bg1"/>
          </a:solidFill>
        </a:ln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Deputy Head of Business Development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Friska</a:t>
          </a:r>
          <a:r>
            <a: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en-US" sz="1200" b="1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Alfrida</a:t>
          </a:r>
          <a:r>
            <a: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Angelia T</a:t>
          </a:r>
        </a:p>
      </dgm:t>
    </dgm:pt>
    <dgm:pt modelId="{4ABE9EA3-47F7-47D5-A0C2-EA5C4AA28E7D}" type="parTrans" cxnId="{16681E7E-05F3-4CE7-9F76-502935DC527C}">
      <dgm:prSet/>
      <dgm:spPr/>
      <dgm:t>
        <a:bodyPr/>
        <a:lstStyle/>
        <a:p>
          <a:endParaRPr lang="id-ID" sz="1400"/>
        </a:p>
      </dgm:t>
    </dgm:pt>
    <dgm:pt modelId="{2DDCCF4D-CE61-4DB6-9D8B-83182298A502}" type="sibTrans" cxnId="{16681E7E-05F3-4CE7-9F76-502935DC527C}">
      <dgm:prSet/>
      <dgm:spPr/>
      <dgm:t>
        <a:bodyPr/>
        <a:lstStyle/>
        <a:p>
          <a:endParaRPr lang="id-ID" sz="1400"/>
        </a:p>
      </dgm:t>
    </dgm:pt>
    <dgm:pt modelId="{54127AB3-A80B-42F4-A47C-0A20F891287C}">
      <dgm:prSet custT="1"/>
      <dgm:spPr>
        <a:solidFill>
          <a:schemeClr val="bg1">
            <a:lumMod val="85000"/>
          </a:schemeClr>
        </a:solidFill>
        <a:ln w="3175">
          <a:solidFill>
            <a:schemeClr val="bg1"/>
          </a:solidFill>
        </a:ln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Project Leader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[Name]</a:t>
          </a:r>
        </a:p>
      </dgm:t>
    </dgm:pt>
    <dgm:pt modelId="{25A77277-537C-4482-B8D9-1775F213E9BD}" type="parTrans" cxnId="{13C7CCA9-F1E0-4BC0-9D6A-99D46945241E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endParaRPr lang="id-ID" sz="1400"/>
        </a:p>
      </dgm:t>
    </dgm:pt>
    <dgm:pt modelId="{F9A6A744-268E-4D2D-BB3E-EF40B3354227}" type="sibTrans" cxnId="{13C7CCA9-F1E0-4BC0-9D6A-99D46945241E}">
      <dgm:prSet/>
      <dgm:spPr/>
      <dgm:t>
        <a:bodyPr/>
        <a:lstStyle/>
        <a:p>
          <a:endParaRPr lang="id-ID" sz="1400"/>
        </a:p>
      </dgm:t>
    </dgm:pt>
    <dgm:pt modelId="{64770C65-77CC-424C-BC43-F7659E8ACFEC}">
      <dgm:prSet custT="1"/>
      <dgm:spPr>
        <a:solidFill>
          <a:schemeClr val="bg1">
            <a:lumMod val="85000"/>
          </a:schemeClr>
        </a:solidFill>
        <a:ln w="3175">
          <a:solidFill>
            <a:schemeClr val="bg1"/>
          </a:solidFill>
        </a:ln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gm:t>
    </dgm:pt>
    <dgm:pt modelId="{56A847AA-796D-4B4C-802C-DE640C323463}" type="parTrans" cxnId="{FC815502-2A1E-4650-B7D7-C21C374936F3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endParaRPr lang="id-ID" sz="1400"/>
        </a:p>
      </dgm:t>
    </dgm:pt>
    <dgm:pt modelId="{B1C5B8FB-FF90-492A-B46A-DEC40F8C750A}" type="sibTrans" cxnId="{FC815502-2A1E-4650-B7D7-C21C374936F3}">
      <dgm:prSet/>
      <dgm:spPr/>
      <dgm:t>
        <a:bodyPr/>
        <a:lstStyle/>
        <a:p>
          <a:endParaRPr lang="id-ID" sz="1400"/>
        </a:p>
      </dgm:t>
    </dgm:pt>
    <dgm:pt modelId="{D9F14E10-BBE2-45BC-83C0-B32688CD2ED9}">
      <dgm:prSet custT="1"/>
      <dgm:spPr>
        <a:solidFill>
          <a:schemeClr val="bg1">
            <a:lumMod val="85000"/>
          </a:schemeClr>
        </a:solidFill>
        <a:ln w="3175">
          <a:solidFill>
            <a:schemeClr val="bg1"/>
          </a:solidFill>
        </a:ln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gm:t>
    </dgm:pt>
    <dgm:pt modelId="{914F52D8-8A81-4B3B-BE3E-9B5C1665E857}" type="parTrans" cxnId="{27C50EF9-EA98-4DE8-BAFF-0021EF428749}">
      <dgm:prSet/>
      <dgm:spPr/>
      <dgm:t>
        <a:bodyPr/>
        <a:lstStyle/>
        <a:p>
          <a:endParaRPr lang="id-ID" sz="1400"/>
        </a:p>
      </dgm:t>
    </dgm:pt>
    <dgm:pt modelId="{E8A7115D-54C6-4CC6-A0B3-814AB14F43B4}" type="sibTrans" cxnId="{27C50EF9-EA98-4DE8-BAFF-0021EF428749}">
      <dgm:prSet/>
      <dgm:spPr/>
      <dgm:t>
        <a:bodyPr/>
        <a:lstStyle/>
        <a:p>
          <a:endParaRPr lang="id-ID" sz="1400"/>
        </a:p>
      </dgm:t>
    </dgm:pt>
    <dgm:pt modelId="{8841AC68-224B-4B88-8325-B1C53CCFF128}">
      <dgm:prSet custT="1"/>
      <dgm:spPr>
        <a:solidFill>
          <a:schemeClr val="bg1">
            <a:lumMod val="85000"/>
          </a:schemeClr>
        </a:solidFill>
        <a:ln w="3175">
          <a:solidFill>
            <a:schemeClr val="bg1"/>
          </a:solidFill>
        </a:ln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gm:t>
    </dgm:pt>
    <dgm:pt modelId="{A0632FE7-0172-4136-B252-FCC52073F32B}" type="parTrans" cxnId="{98733D4B-3295-4C0E-AEDA-ED4A8165F949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endParaRPr lang="id-ID" sz="1400"/>
        </a:p>
      </dgm:t>
    </dgm:pt>
    <dgm:pt modelId="{FA9FFE5C-0355-4F18-B817-377A67F25E44}" type="sibTrans" cxnId="{98733D4B-3295-4C0E-AEDA-ED4A8165F949}">
      <dgm:prSet/>
      <dgm:spPr/>
      <dgm:t>
        <a:bodyPr/>
        <a:lstStyle/>
        <a:p>
          <a:endParaRPr lang="id-ID" sz="1400"/>
        </a:p>
      </dgm:t>
    </dgm:pt>
    <dgm:pt modelId="{EDEF8DC8-FDE6-430F-ACFC-5DF7C9F9A143}">
      <dgm:prSet custT="1"/>
      <dgm:spPr>
        <a:solidFill>
          <a:schemeClr val="bg1">
            <a:lumMod val="85000"/>
          </a:schemeClr>
        </a:solidFill>
        <a:ln w="3175">
          <a:solidFill>
            <a:schemeClr val="bg1"/>
          </a:solidFill>
        </a:ln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gm:t>
    </dgm:pt>
    <dgm:pt modelId="{80F917FE-6247-4DA0-811B-4CDD91A838BE}" type="parTrans" cxnId="{C663D746-6E88-4FC0-8CA5-B813D4A71BB7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endParaRPr lang="id-ID" sz="1400"/>
        </a:p>
      </dgm:t>
    </dgm:pt>
    <dgm:pt modelId="{007674A7-9BA2-47CC-9691-C11057A7DE86}" type="sibTrans" cxnId="{C663D746-6E88-4FC0-8CA5-B813D4A71BB7}">
      <dgm:prSet/>
      <dgm:spPr/>
      <dgm:t>
        <a:bodyPr/>
        <a:lstStyle/>
        <a:p>
          <a:endParaRPr lang="id-ID" sz="1400"/>
        </a:p>
      </dgm:t>
    </dgm:pt>
    <dgm:pt modelId="{057323B2-DB12-4404-BE45-EC6E9E44BDCB}">
      <dgm:prSet custT="1"/>
      <dgm:spPr>
        <a:solidFill>
          <a:schemeClr val="bg1">
            <a:lumMod val="85000"/>
          </a:schemeClr>
        </a:solidFill>
        <a:ln w="3175">
          <a:solidFill>
            <a:schemeClr val="bg1"/>
          </a:solidFill>
        </a:ln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gm:t>
    </dgm:pt>
    <dgm:pt modelId="{40E7745F-7011-4DB6-99D4-F3062EFD16AC}" type="parTrans" cxnId="{5027B13D-115A-40A2-B598-E00E87A8F6EA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endParaRPr lang="id-ID" sz="1400"/>
        </a:p>
      </dgm:t>
    </dgm:pt>
    <dgm:pt modelId="{88D68CC4-70EF-4312-9DED-C983F7E4D3C0}" type="sibTrans" cxnId="{5027B13D-115A-40A2-B598-E00E87A8F6EA}">
      <dgm:prSet/>
      <dgm:spPr/>
      <dgm:t>
        <a:bodyPr/>
        <a:lstStyle/>
        <a:p>
          <a:endParaRPr lang="id-ID" sz="1400"/>
        </a:p>
      </dgm:t>
    </dgm:pt>
    <dgm:pt modelId="{109F7F11-72C3-4856-A576-6889B3C62B75}" type="pres">
      <dgm:prSet presAssocID="{1DE38440-44CC-4C25-A54E-E6682FA1D99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33697B3-0441-4563-AEEF-A3DB945BD79B}" type="pres">
      <dgm:prSet presAssocID="{8098DDB4-446D-4C15-ADEE-DE0F9D55647D}" presName="hierRoot1" presStyleCnt="0">
        <dgm:presLayoutVars>
          <dgm:hierBranch/>
        </dgm:presLayoutVars>
      </dgm:prSet>
      <dgm:spPr/>
    </dgm:pt>
    <dgm:pt modelId="{04D23979-E3A2-4206-BE91-B3CB1B626082}" type="pres">
      <dgm:prSet presAssocID="{8098DDB4-446D-4C15-ADEE-DE0F9D55647D}" presName="rootComposite1" presStyleCnt="0"/>
      <dgm:spPr/>
    </dgm:pt>
    <dgm:pt modelId="{84C31DA5-46D2-46CC-9984-0AB65AA1B6F5}" type="pres">
      <dgm:prSet presAssocID="{8098DDB4-446D-4C15-ADEE-DE0F9D55647D}" presName="rootText1" presStyleLbl="node0" presStyleIdx="0" presStyleCnt="1" custScaleX="144205">
        <dgm:presLayoutVars>
          <dgm:chPref val="3"/>
        </dgm:presLayoutVars>
      </dgm:prSet>
      <dgm:spPr/>
    </dgm:pt>
    <dgm:pt modelId="{BD3A7CA8-5003-4EE1-BF9D-D65DC93C2B87}" type="pres">
      <dgm:prSet presAssocID="{8098DDB4-446D-4C15-ADEE-DE0F9D55647D}" presName="rootConnector1" presStyleLbl="node1" presStyleIdx="0" presStyleCnt="0"/>
      <dgm:spPr/>
    </dgm:pt>
    <dgm:pt modelId="{F27F96D6-3A6B-4217-AAC2-140B15D0F0FF}" type="pres">
      <dgm:prSet presAssocID="{8098DDB4-446D-4C15-ADEE-DE0F9D55647D}" presName="hierChild2" presStyleCnt="0"/>
      <dgm:spPr/>
    </dgm:pt>
    <dgm:pt modelId="{92586134-37D4-49B8-8541-36C4584E952E}" type="pres">
      <dgm:prSet presAssocID="{25A77277-537C-4482-B8D9-1775F213E9BD}" presName="Name35" presStyleLbl="parChTrans1D2" presStyleIdx="0" presStyleCnt="1"/>
      <dgm:spPr/>
    </dgm:pt>
    <dgm:pt modelId="{9C96AE4F-31D0-46F7-A906-4E52D100F3DC}" type="pres">
      <dgm:prSet presAssocID="{54127AB3-A80B-42F4-A47C-0A20F891287C}" presName="hierRoot2" presStyleCnt="0">
        <dgm:presLayoutVars>
          <dgm:hierBranch/>
        </dgm:presLayoutVars>
      </dgm:prSet>
      <dgm:spPr/>
    </dgm:pt>
    <dgm:pt modelId="{92CD43B5-829C-4CF5-92F7-F4F38BAB774A}" type="pres">
      <dgm:prSet presAssocID="{54127AB3-A80B-42F4-A47C-0A20F891287C}" presName="rootComposite" presStyleCnt="0"/>
      <dgm:spPr/>
    </dgm:pt>
    <dgm:pt modelId="{2FF3262B-9D4C-41C2-9EDB-BDE0A8179CCB}" type="pres">
      <dgm:prSet presAssocID="{54127AB3-A80B-42F4-A47C-0A20F891287C}" presName="rootText" presStyleLbl="node2" presStyleIdx="0" presStyleCnt="1" custScaleX="120292">
        <dgm:presLayoutVars>
          <dgm:chPref val="3"/>
        </dgm:presLayoutVars>
      </dgm:prSet>
      <dgm:spPr/>
    </dgm:pt>
    <dgm:pt modelId="{F0BB1CB4-436D-4EDD-BBB9-96B167447D97}" type="pres">
      <dgm:prSet presAssocID="{54127AB3-A80B-42F4-A47C-0A20F891287C}" presName="rootConnector" presStyleLbl="node2" presStyleIdx="0" presStyleCnt="1"/>
      <dgm:spPr/>
    </dgm:pt>
    <dgm:pt modelId="{82AC8889-0F9F-4DBF-B1EF-22BBB4BC9673}" type="pres">
      <dgm:prSet presAssocID="{54127AB3-A80B-42F4-A47C-0A20F891287C}" presName="hierChild4" presStyleCnt="0"/>
      <dgm:spPr/>
    </dgm:pt>
    <dgm:pt modelId="{5FFAE31A-7EA8-42FD-97F5-47AFEAB2C48B}" type="pres">
      <dgm:prSet presAssocID="{56A847AA-796D-4B4C-802C-DE640C323463}" presName="Name35" presStyleLbl="parChTrans1D3" presStyleIdx="0" presStyleCnt="5"/>
      <dgm:spPr/>
    </dgm:pt>
    <dgm:pt modelId="{43E8C554-AEE9-414D-8FEB-FFCD7DD69166}" type="pres">
      <dgm:prSet presAssocID="{64770C65-77CC-424C-BC43-F7659E8ACFEC}" presName="hierRoot2" presStyleCnt="0">
        <dgm:presLayoutVars>
          <dgm:hierBranch val="r"/>
        </dgm:presLayoutVars>
      </dgm:prSet>
      <dgm:spPr/>
    </dgm:pt>
    <dgm:pt modelId="{43DFBF0D-F423-4EA5-ACA1-DF74FC3EBD5A}" type="pres">
      <dgm:prSet presAssocID="{64770C65-77CC-424C-BC43-F7659E8ACFEC}" presName="rootComposite" presStyleCnt="0"/>
      <dgm:spPr/>
    </dgm:pt>
    <dgm:pt modelId="{BCC16C2F-EE2C-4978-8160-5C59B10283EC}" type="pres">
      <dgm:prSet presAssocID="{64770C65-77CC-424C-BC43-F7659E8ACFEC}" presName="rootText" presStyleLbl="node3" presStyleIdx="0" presStyleCnt="5" custScaleX="120292">
        <dgm:presLayoutVars>
          <dgm:chPref val="3"/>
        </dgm:presLayoutVars>
      </dgm:prSet>
      <dgm:spPr/>
    </dgm:pt>
    <dgm:pt modelId="{93ACD517-37C9-4160-B00F-5593B923A688}" type="pres">
      <dgm:prSet presAssocID="{64770C65-77CC-424C-BC43-F7659E8ACFEC}" presName="rootConnector" presStyleLbl="node3" presStyleIdx="0" presStyleCnt="5"/>
      <dgm:spPr/>
    </dgm:pt>
    <dgm:pt modelId="{7EEDC3DD-EDFC-43BC-9AEA-AE255A6A0DE2}" type="pres">
      <dgm:prSet presAssocID="{64770C65-77CC-424C-BC43-F7659E8ACFEC}" presName="hierChild4" presStyleCnt="0"/>
      <dgm:spPr/>
    </dgm:pt>
    <dgm:pt modelId="{35C57CDD-D906-44BD-A095-7840D1DE0F15}" type="pres">
      <dgm:prSet presAssocID="{64770C65-77CC-424C-BC43-F7659E8ACFEC}" presName="hierChild5" presStyleCnt="0"/>
      <dgm:spPr/>
    </dgm:pt>
    <dgm:pt modelId="{FA92F374-5E2E-43F5-A49A-92E2D83B5290}" type="pres">
      <dgm:prSet presAssocID="{914F52D8-8A81-4B3B-BE3E-9B5C1665E857}" presName="Name35" presStyleLbl="parChTrans1D3" presStyleIdx="1" presStyleCnt="5"/>
      <dgm:spPr/>
    </dgm:pt>
    <dgm:pt modelId="{8A6300A7-14EF-43E1-9E28-47B07AC69E60}" type="pres">
      <dgm:prSet presAssocID="{D9F14E10-BBE2-45BC-83C0-B32688CD2ED9}" presName="hierRoot2" presStyleCnt="0">
        <dgm:presLayoutVars>
          <dgm:hierBranch val="r"/>
        </dgm:presLayoutVars>
      </dgm:prSet>
      <dgm:spPr/>
    </dgm:pt>
    <dgm:pt modelId="{28B91C76-5515-484E-80C0-1F69E9366253}" type="pres">
      <dgm:prSet presAssocID="{D9F14E10-BBE2-45BC-83C0-B32688CD2ED9}" presName="rootComposite" presStyleCnt="0"/>
      <dgm:spPr/>
    </dgm:pt>
    <dgm:pt modelId="{8D8BB15D-8498-4535-9C0D-6CFC6836C2D6}" type="pres">
      <dgm:prSet presAssocID="{D9F14E10-BBE2-45BC-83C0-B32688CD2ED9}" presName="rootText" presStyleLbl="node3" presStyleIdx="1" presStyleCnt="5" custScaleX="120292">
        <dgm:presLayoutVars>
          <dgm:chPref val="3"/>
        </dgm:presLayoutVars>
      </dgm:prSet>
      <dgm:spPr/>
    </dgm:pt>
    <dgm:pt modelId="{4FAE7C28-AA39-4381-A5FD-E8958C2430CD}" type="pres">
      <dgm:prSet presAssocID="{D9F14E10-BBE2-45BC-83C0-B32688CD2ED9}" presName="rootConnector" presStyleLbl="node3" presStyleIdx="1" presStyleCnt="5"/>
      <dgm:spPr/>
    </dgm:pt>
    <dgm:pt modelId="{C9C2648E-BDF8-41AC-9AA2-E2C2E90F7484}" type="pres">
      <dgm:prSet presAssocID="{D9F14E10-BBE2-45BC-83C0-B32688CD2ED9}" presName="hierChild4" presStyleCnt="0"/>
      <dgm:spPr/>
    </dgm:pt>
    <dgm:pt modelId="{981528DC-5EFD-425C-942E-D1874A0A0C3D}" type="pres">
      <dgm:prSet presAssocID="{D9F14E10-BBE2-45BC-83C0-B32688CD2ED9}" presName="hierChild5" presStyleCnt="0"/>
      <dgm:spPr/>
    </dgm:pt>
    <dgm:pt modelId="{AC43593C-4874-4BE1-B2E7-D1C055867279}" type="pres">
      <dgm:prSet presAssocID="{A0632FE7-0172-4136-B252-FCC52073F32B}" presName="Name35" presStyleLbl="parChTrans1D3" presStyleIdx="2" presStyleCnt="5"/>
      <dgm:spPr/>
    </dgm:pt>
    <dgm:pt modelId="{B3F29067-C2C9-4C84-A8B6-26F7B45EAE72}" type="pres">
      <dgm:prSet presAssocID="{8841AC68-224B-4B88-8325-B1C53CCFF128}" presName="hierRoot2" presStyleCnt="0">
        <dgm:presLayoutVars>
          <dgm:hierBranch val="r"/>
        </dgm:presLayoutVars>
      </dgm:prSet>
      <dgm:spPr/>
    </dgm:pt>
    <dgm:pt modelId="{A11E6A8D-1487-40B8-A8E5-B4081805D7AD}" type="pres">
      <dgm:prSet presAssocID="{8841AC68-224B-4B88-8325-B1C53CCFF128}" presName="rootComposite" presStyleCnt="0"/>
      <dgm:spPr/>
    </dgm:pt>
    <dgm:pt modelId="{23873364-D2C1-4C52-B879-EA1303D3078E}" type="pres">
      <dgm:prSet presAssocID="{8841AC68-224B-4B88-8325-B1C53CCFF128}" presName="rootText" presStyleLbl="node3" presStyleIdx="2" presStyleCnt="5" custScaleX="120292">
        <dgm:presLayoutVars>
          <dgm:chPref val="3"/>
        </dgm:presLayoutVars>
      </dgm:prSet>
      <dgm:spPr/>
    </dgm:pt>
    <dgm:pt modelId="{DAFAF830-A121-42A4-8B1B-C0850A66A1E0}" type="pres">
      <dgm:prSet presAssocID="{8841AC68-224B-4B88-8325-B1C53CCFF128}" presName="rootConnector" presStyleLbl="node3" presStyleIdx="2" presStyleCnt="5"/>
      <dgm:spPr/>
    </dgm:pt>
    <dgm:pt modelId="{DA7F9113-EE52-481A-B724-85938E425F98}" type="pres">
      <dgm:prSet presAssocID="{8841AC68-224B-4B88-8325-B1C53CCFF128}" presName="hierChild4" presStyleCnt="0"/>
      <dgm:spPr/>
    </dgm:pt>
    <dgm:pt modelId="{B1529A4C-5A7B-43CA-9F03-B8FA27FE8A01}" type="pres">
      <dgm:prSet presAssocID="{8841AC68-224B-4B88-8325-B1C53CCFF128}" presName="hierChild5" presStyleCnt="0"/>
      <dgm:spPr/>
    </dgm:pt>
    <dgm:pt modelId="{DD80D084-D9BD-4560-B8EE-7D35E8644DFD}" type="pres">
      <dgm:prSet presAssocID="{80F917FE-6247-4DA0-811B-4CDD91A838BE}" presName="Name35" presStyleLbl="parChTrans1D3" presStyleIdx="3" presStyleCnt="5"/>
      <dgm:spPr/>
    </dgm:pt>
    <dgm:pt modelId="{FCDEC3EA-4D97-42BC-A8B8-7AC2DE6B5A3E}" type="pres">
      <dgm:prSet presAssocID="{EDEF8DC8-FDE6-430F-ACFC-5DF7C9F9A143}" presName="hierRoot2" presStyleCnt="0">
        <dgm:presLayoutVars>
          <dgm:hierBranch val="r"/>
        </dgm:presLayoutVars>
      </dgm:prSet>
      <dgm:spPr/>
    </dgm:pt>
    <dgm:pt modelId="{41C357FA-58C1-4E3C-8A6B-E03E40AE3681}" type="pres">
      <dgm:prSet presAssocID="{EDEF8DC8-FDE6-430F-ACFC-5DF7C9F9A143}" presName="rootComposite" presStyleCnt="0"/>
      <dgm:spPr/>
    </dgm:pt>
    <dgm:pt modelId="{3F21B8B1-0D9F-4C46-B617-BB815EF26561}" type="pres">
      <dgm:prSet presAssocID="{EDEF8DC8-FDE6-430F-ACFC-5DF7C9F9A143}" presName="rootText" presStyleLbl="node3" presStyleIdx="3" presStyleCnt="5" custScaleX="120292">
        <dgm:presLayoutVars>
          <dgm:chPref val="3"/>
        </dgm:presLayoutVars>
      </dgm:prSet>
      <dgm:spPr/>
    </dgm:pt>
    <dgm:pt modelId="{AB1E6CA9-EB73-412F-BA52-2CE173D31D57}" type="pres">
      <dgm:prSet presAssocID="{EDEF8DC8-FDE6-430F-ACFC-5DF7C9F9A143}" presName="rootConnector" presStyleLbl="node3" presStyleIdx="3" presStyleCnt="5"/>
      <dgm:spPr/>
    </dgm:pt>
    <dgm:pt modelId="{BF48E0DE-8B78-49EB-B62E-03E0C043A63C}" type="pres">
      <dgm:prSet presAssocID="{EDEF8DC8-FDE6-430F-ACFC-5DF7C9F9A143}" presName="hierChild4" presStyleCnt="0"/>
      <dgm:spPr/>
    </dgm:pt>
    <dgm:pt modelId="{6D5B8DA1-8CDC-4C21-87C4-3DC0B015BB08}" type="pres">
      <dgm:prSet presAssocID="{EDEF8DC8-FDE6-430F-ACFC-5DF7C9F9A143}" presName="hierChild5" presStyleCnt="0"/>
      <dgm:spPr/>
    </dgm:pt>
    <dgm:pt modelId="{7CAA2617-677F-4CB3-83A1-9D6A5E8E7F63}" type="pres">
      <dgm:prSet presAssocID="{40E7745F-7011-4DB6-99D4-F3062EFD16AC}" presName="Name35" presStyleLbl="parChTrans1D3" presStyleIdx="4" presStyleCnt="5"/>
      <dgm:spPr/>
    </dgm:pt>
    <dgm:pt modelId="{6FA02DEC-18CE-4DE8-AD73-08DD27086E9C}" type="pres">
      <dgm:prSet presAssocID="{057323B2-DB12-4404-BE45-EC6E9E44BDCB}" presName="hierRoot2" presStyleCnt="0">
        <dgm:presLayoutVars>
          <dgm:hierBranch val="r"/>
        </dgm:presLayoutVars>
      </dgm:prSet>
      <dgm:spPr/>
    </dgm:pt>
    <dgm:pt modelId="{FB4E279D-648F-45EA-BCD2-C9F8420DB214}" type="pres">
      <dgm:prSet presAssocID="{057323B2-DB12-4404-BE45-EC6E9E44BDCB}" presName="rootComposite" presStyleCnt="0"/>
      <dgm:spPr/>
    </dgm:pt>
    <dgm:pt modelId="{918ECB13-D9A5-4B09-BCE3-00C79E621EA1}" type="pres">
      <dgm:prSet presAssocID="{057323B2-DB12-4404-BE45-EC6E9E44BDCB}" presName="rootText" presStyleLbl="node3" presStyleIdx="4" presStyleCnt="5" custScaleX="120292">
        <dgm:presLayoutVars>
          <dgm:chPref val="3"/>
        </dgm:presLayoutVars>
      </dgm:prSet>
      <dgm:spPr/>
    </dgm:pt>
    <dgm:pt modelId="{09659F6A-4311-4A67-B965-68EFEB41B273}" type="pres">
      <dgm:prSet presAssocID="{057323B2-DB12-4404-BE45-EC6E9E44BDCB}" presName="rootConnector" presStyleLbl="node3" presStyleIdx="4" presStyleCnt="5"/>
      <dgm:spPr/>
    </dgm:pt>
    <dgm:pt modelId="{8628055E-3748-4013-98F1-D60E43A88B31}" type="pres">
      <dgm:prSet presAssocID="{057323B2-DB12-4404-BE45-EC6E9E44BDCB}" presName="hierChild4" presStyleCnt="0"/>
      <dgm:spPr/>
    </dgm:pt>
    <dgm:pt modelId="{47A55183-A6D0-41D1-B779-D403DFD5D2C6}" type="pres">
      <dgm:prSet presAssocID="{057323B2-DB12-4404-BE45-EC6E9E44BDCB}" presName="hierChild5" presStyleCnt="0"/>
      <dgm:spPr/>
    </dgm:pt>
    <dgm:pt modelId="{0BEF2D59-F134-4764-B0C5-2F58FDA8ADC7}" type="pres">
      <dgm:prSet presAssocID="{54127AB3-A80B-42F4-A47C-0A20F891287C}" presName="hierChild5" presStyleCnt="0"/>
      <dgm:spPr/>
    </dgm:pt>
    <dgm:pt modelId="{FACD50EF-CE4B-4C21-B7B4-6114E3784034}" type="pres">
      <dgm:prSet presAssocID="{8098DDB4-446D-4C15-ADEE-DE0F9D55647D}" presName="hierChild3" presStyleCnt="0"/>
      <dgm:spPr/>
    </dgm:pt>
  </dgm:ptLst>
  <dgm:cxnLst>
    <dgm:cxn modelId="{FC815502-2A1E-4650-B7D7-C21C374936F3}" srcId="{54127AB3-A80B-42F4-A47C-0A20F891287C}" destId="{64770C65-77CC-424C-BC43-F7659E8ACFEC}" srcOrd="0" destOrd="0" parTransId="{56A847AA-796D-4B4C-802C-DE640C323463}" sibTransId="{B1C5B8FB-FF90-492A-B46A-DEC40F8C750A}"/>
    <dgm:cxn modelId="{844CB002-6995-47EF-8E0E-EBB1C7E4B52E}" type="presOf" srcId="{A0632FE7-0172-4136-B252-FCC52073F32B}" destId="{AC43593C-4874-4BE1-B2E7-D1C055867279}" srcOrd="0" destOrd="0" presId="urn:microsoft.com/office/officeart/2005/8/layout/orgChart1#1"/>
    <dgm:cxn modelId="{3CCB1917-7C97-4A65-B9B4-3A225A36B6BD}" type="presOf" srcId="{1DE38440-44CC-4C25-A54E-E6682FA1D999}" destId="{109F7F11-72C3-4856-A576-6889B3C62B75}" srcOrd="0" destOrd="0" presId="urn:microsoft.com/office/officeart/2005/8/layout/orgChart1#1"/>
    <dgm:cxn modelId="{AF8E541D-87B6-4430-92D8-FB7B94F19756}" type="presOf" srcId="{8841AC68-224B-4B88-8325-B1C53CCFF128}" destId="{23873364-D2C1-4C52-B879-EA1303D3078E}" srcOrd="0" destOrd="0" presId="urn:microsoft.com/office/officeart/2005/8/layout/orgChart1#1"/>
    <dgm:cxn modelId="{09A26D36-8094-4C0C-B742-DB0F27E5079C}" type="presOf" srcId="{057323B2-DB12-4404-BE45-EC6E9E44BDCB}" destId="{918ECB13-D9A5-4B09-BCE3-00C79E621EA1}" srcOrd="0" destOrd="0" presId="urn:microsoft.com/office/officeart/2005/8/layout/orgChart1#1"/>
    <dgm:cxn modelId="{5027B13D-115A-40A2-B598-E00E87A8F6EA}" srcId="{54127AB3-A80B-42F4-A47C-0A20F891287C}" destId="{057323B2-DB12-4404-BE45-EC6E9E44BDCB}" srcOrd="4" destOrd="0" parTransId="{40E7745F-7011-4DB6-99D4-F3062EFD16AC}" sibTransId="{88D68CC4-70EF-4312-9DED-C983F7E4D3C0}"/>
    <dgm:cxn modelId="{0AF6183E-237D-40A6-9C4F-DB4CE7DE37CF}" type="presOf" srcId="{80F917FE-6247-4DA0-811B-4CDD91A838BE}" destId="{DD80D084-D9BD-4560-B8EE-7D35E8644DFD}" srcOrd="0" destOrd="0" presId="urn:microsoft.com/office/officeart/2005/8/layout/orgChart1#1"/>
    <dgm:cxn modelId="{57437F63-A9AE-4E90-9785-54D0AA10B165}" type="presOf" srcId="{D9F14E10-BBE2-45BC-83C0-B32688CD2ED9}" destId="{8D8BB15D-8498-4535-9C0D-6CFC6836C2D6}" srcOrd="0" destOrd="0" presId="urn:microsoft.com/office/officeart/2005/8/layout/orgChart1#1"/>
    <dgm:cxn modelId="{C663D746-6E88-4FC0-8CA5-B813D4A71BB7}" srcId="{54127AB3-A80B-42F4-A47C-0A20F891287C}" destId="{EDEF8DC8-FDE6-430F-ACFC-5DF7C9F9A143}" srcOrd="3" destOrd="0" parTransId="{80F917FE-6247-4DA0-811B-4CDD91A838BE}" sibTransId="{007674A7-9BA2-47CC-9691-C11057A7DE86}"/>
    <dgm:cxn modelId="{016EF146-0AD0-4EF5-8A6F-48FD47A52952}" type="presOf" srcId="{64770C65-77CC-424C-BC43-F7659E8ACFEC}" destId="{93ACD517-37C9-4160-B00F-5593B923A688}" srcOrd="1" destOrd="0" presId="urn:microsoft.com/office/officeart/2005/8/layout/orgChart1#1"/>
    <dgm:cxn modelId="{A262484A-F77F-4E03-9552-03259D31F74E}" type="presOf" srcId="{64770C65-77CC-424C-BC43-F7659E8ACFEC}" destId="{BCC16C2F-EE2C-4978-8160-5C59B10283EC}" srcOrd="0" destOrd="0" presId="urn:microsoft.com/office/officeart/2005/8/layout/orgChart1#1"/>
    <dgm:cxn modelId="{98733D4B-3295-4C0E-AEDA-ED4A8165F949}" srcId="{54127AB3-A80B-42F4-A47C-0A20F891287C}" destId="{8841AC68-224B-4B88-8325-B1C53CCFF128}" srcOrd="2" destOrd="0" parTransId="{A0632FE7-0172-4136-B252-FCC52073F32B}" sibTransId="{FA9FFE5C-0355-4F18-B817-377A67F25E44}"/>
    <dgm:cxn modelId="{59D9C14C-7A45-41C5-AC2B-B95EBDAE78FC}" type="presOf" srcId="{057323B2-DB12-4404-BE45-EC6E9E44BDCB}" destId="{09659F6A-4311-4A67-B965-68EFEB41B273}" srcOrd="1" destOrd="0" presId="urn:microsoft.com/office/officeart/2005/8/layout/orgChart1#1"/>
    <dgm:cxn modelId="{C52EB156-745F-446F-91D9-F59F55B73DD8}" type="presOf" srcId="{54127AB3-A80B-42F4-A47C-0A20F891287C}" destId="{2FF3262B-9D4C-41C2-9EDB-BDE0A8179CCB}" srcOrd="0" destOrd="0" presId="urn:microsoft.com/office/officeart/2005/8/layout/orgChart1#1"/>
    <dgm:cxn modelId="{D3CC2577-2D01-4730-B18E-E4B017244DE3}" type="presOf" srcId="{EDEF8DC8-FDE6-430F-ACFC-5DF7C9F9A143}" destId="{3F21B8B1-0D9F-4C46-B617-BB815EF26561}" srcOrd="0" destOrd="0" presId="urn:microsoft.com/office/officeart/2005/8/layout/orgChart1#1"/>
    <dgm:cxn modelId="{16681E7E-05F3-4CE7-9F76-502935DC527C}" srcId="{1DE38440-44CC-4C25-A54E-E6682FA1D999}" destId="{8098DDB4-446D-4C15-ADEE-DE0F9D55647D}" srcOrd="0" destOrd="0" parTransId="{4ABE9EA3-47F7-47D5-A0C2-EA5C4AA28E7D}" sibTransId="{2DDCCF4D-CE61-4DB6-9D8B-83182298A502}"/>
    <dgm:cxn modelId="{3C402789-C0B6-4DD0-95B1-3A884873767E}" type="presOf" srcId="{56A847AA-796D-4B4C-802C-DE640C323463}" destId="{5FFAE31A-7EA8-42FD-97F5-47AFEAB2C48B}" srcOrd="0" destOrd="0" presId="urn:microsoft.com/office/officeart/2005/8/layout/orgChart1#1"/>
    <dgm:cxn modelId="{319EE9A1-94FC-4D6D-A128-94CB7097B4CD}" type="presOf" srcId="{D9F14E10-BBE2-45BC-83C0-B32688CD2ED9}" destId="{4FAE7C28-AA39-4381-A5FD-E8958C2430CD}" srcOrd="1" destOrd="0" presId="urn:microsoft.com/office/officeart/2005/8/layout/orgChart1#1"/>
    <dgm:cxn modelId="{13C7CCA9-F1E0-4BC0-9D6A-99D46945241E}" srcId="{8098DDB4-446D-4C15-ADEE-DE0F9D55647D}" destId="{54127AB3-A80B-42F4-A47C-0A20F891287C}" srcOrd="0" destOrd="0" parTransId="{25A77277-537C-4482-B8D9-1775F213E9BD}" sibTransId="{F9A6A744-268E-4D2D-BB3E-EF40B3354227}"/>
    <dgm:cxn modelId="{A55E2EB9-8A7A-4A7A-BF55-09C6A80280A0}" type="presOf" srcId="{8098DDB4-446D-4C15-ADEE-DE0F9D55647D}" destId="{84C31DA5-46D2-46CC-9984-0AB65AA1B6F5}" srcOrd="0" destOrd="0" presId="urn:microsoft.com/office/officeart/2005/8/layout/orgChart1#1"/>
    <dgm:cxn modelId="{F2E137BB-DE56-4404-9FED-246BFDB5BF85}" type="presOf" srcId="{EDEF8DC8-FDE6-430F-ACFC-5DF7C9F9A143}" destId="{AB1E6CA9-EB73-412F-BA52-2CE173D31D57}" srcOrd="1" destOrd="0" presId="urn:microsoft.com/office/officeart/2005/8/layout/orgChart1#1"/>
    <dgm:cxn modelId="{602C0FCC-DA34-40D6-BF1A-48AD77981F7E}" type="presOf" srcId="{25A77277-537C-4482-B8D9-1775F213E9BD}" destId="{92586134-37D4-49B8-8541-36C4584E952E}" srcOrd="0" destOrd="0" presId="urn:microsoft.com/office/officeart/2005/8/layout/orgChart1#1"/>
    <dgm:cxn modelId="{02F754CE-5F56-4C82-BBAD-62AE02686997}" type="presOf" srcId="{40E7745F-7011-4DB6-99D4-F3062EFD16AC}" destId="{7CAA2617-677F-4CB3-83A1-9D6A5E8E7F63}" srcOrd="0" destOrd="0" presId="urn:microsoft.com/office/officeart/2005/8/layout/orgChart1#1"/>
    <dgm:cxn modelId="{7321A0DA-FE96-48CB-B293-81EAC87AF8EE}" type="presOf" srcId="{8841AC68-224B-4B88-8325-B1C53CCFF128}" destId="{DAFAF830-A121-42A4-8B1B-C0850A66A1E0}" srcOrd="1" destOrd="0" presId="urn:microsoft.com/office/officeart/2005/8/layout/orgChart1#1"/>
    <dgm:cxn modelId="{1816B8E0-237F-44F6-A322-A81957F6B11E}" type="presOf" srcId="{54127AB3-A80B-42F4-A47C-0A20F891287C}" destId="{F0BB1CB4-436D-4EDD-BBB9-96B167447D97}" srcOrd="1" destOrd="0" presId="urn:microsoft.com/office/officeart/2005/8/layout/orgChart1#1"/>
    <dgm:cxn modelId="{2FFEACED-1A2C-4BF5-AE79-517E1D3B210A}" type="presOf" srcId="{914F52D8-8A81-4B3B-BE3E-9B5C1665E857}" destId="{FA92F374-5E2E-43F5-A49A-92E2D83B5290}" srcOrd="0" destOrd="0" presId="urn:microsoft.com/office/officeart/2005/8/layout/orgChart1#1"/>
    <dgm:cxn modelId="{27C50EF9-EA98-4DE8-BAFF-0021EF428749}" srcId="{54127AB3-A80B-42F4-A47C-0A20F891287C}" destId="{D9F14E10-BBE2-45BC-83C0-B32688CD2ED9}" srcOrd="1" destOrd="0" parTransId="{914F52D8-8A81-4B3B-BE3E-9B5C1665E857}" sibTransId="{E8A7115D-54C6-4CC6-A0B3-814AB14F43B4}"/>
    <dgm:cxn modelId="{63C423F9-593E-4BC5-9DC3-6CA277D1CA0B}" type="presOf" srcId="{8098DDB4-446D-4C15-ADEE-DE0F9D55647D}" destId="{BD3A7CA8-5003-4EE1-BF9D-D65DC93C2B87}" srcOrd="1" destOrd="0" presId="urn:microsoft.com/office/officeart/2005/8/layout/orgChart1#1"/>
    <dgm:cxn modelId="{B9751E5A-0AC9-4255-9635-97277753AAED}" type="presParOf" srcId="{109F7F11-72C3-4856-A576-6889B3C62B75}" destId="{C33697B3-0441-4563-AEEF-A3DB945BD79B}" srcOrd="0" destOrd="0" presId="urn:microsoft.com/office/officeart/2005/8/layout/orgChart1#1"/>
    <dgm:cxn modelId="{9C123803-7B22-436B-802B-F4B6DF3F755D}" type="presParOf" srcId="{C33697B3-0441-4563-AEEF-A3DB945BD79B}" destId="{04D23979-E3A2-4206-BE91-B3CB1B626082}" srcOrd="0" destOrd="0" presId="urn:microsoft.com/office/officeart/2005/8/layout/orgChart1#1"/>
    <dgm:cxn modelId="{8A944761-C50A-4D43-8E83-4489E12D177F}" type="presParOf" srcId="{04D23979-E3A2-4206-BE91-B3CB1B626082}" destId="{84C31DA5-46D2-46CC-9984-0AB65AA1B6F5}" srcOrd="0" destOrd="0" presId="urn:microsoft.com/office/officeart/2005/8/layout/orgChart1#1"/>
    <dgm:cxn modelId="{64EC7937-6E54-4CB0-BB6A-0D4C34DE2A46}" type="presParOf" srcId="{04D23979-E3A2-4206-BE91-B3CB1B626082}" destId="{BD3A7CA8-5003-4EE1-BF9D-D65DC93C2B87}" srcOrd="1" destOrd="0" presId="urn:microsoft.com/office/officeart/2005/8/layout/orgChart1#1"/>
    <dgm:cxn modelId="{21B3BCF6-3784-48FD-AD66-C51048D898C8}" type="presParOf" srcId="{C33697B3-0441-4563-AEEF-A3DB945BD79B}" destId="{F27F96D6-3A6B-4217-AAC2-140B15D0F0FF}" srcOrd="1" destOrd="0" presId="urn:microsoft.com/office/officeart/2005/8/layout/orgChart1#1"/>
    <dgm:cxn modelId="{FA0624B7-6FB7-42C2-95F3-BC973BCCCFA6}" type="presParOf" srcId="{F27F96D6-3A6B-4217-AAC2-140B15D0F0FF}" destId="{92586134-37D4-49B8-8541-36C4584E952E}" srcOrd="0" destOrd="0" presId="urn:microsoft.com/office/officeart/2005/8/layout/orgChart1#1"/>
    <dgm:cxn modelId="{E8E53A53-8683-436F-B1F0-4025F514EAE8}" type="presParOf" srcId="{F27F96D6-3A6B-4217-AAC2-140B15D0F0FF}" destId="{9C96AE4F-31D0-46F7-A906-4E52D100F3DC}" srcOrd="1" destOrd="0" presId="urn:microsoft.com/office/officeart/2005/8/layout/orgChart1#1"/>
    <dgm:cxn modelId="{29146F22-5AFF-4361-842E-EA780BBF138C}" type="presParOf" srcId="{9C96AE4F-31D0-46F7-A906-4E52D100F3DC}" destId="{92CD43B5-829C-4CF5-92F7-F4F38BAB774A}" srcOrd="0" destOrd="0" presId="urn:microsoft.com/office/officeart/2005/8/layout/orgChart1#1"/>
    <dgm:cxn modelId="{B78F7EE5-BCD3-4C72-B6EA-0DCBC8F80051}" type="presParOf" srcId="{92CD43B5-829C-4CF5-92F7-F4F38BAB774A}" destId="{2FF3262B-9D4C-41C2-9EDB-BDE0A8179CCB}" srcOrd="0" destOrd="0" presId="urn:microsoft.com/office/officeart/2005/8/layout/orgChart1#1"/>
    <dgm:cxn modelId="{79C79B17-55A7-431F-A80D-F35798B297A5}" type="presParOf" srcId="{92CD43B5-829C-4CF5-92F7-F4F38BAB774A}" destId="{F0BB1CB4-436D-4EDD-BBB9-96B167447D97}" srcOrd="1" destOrd="0" presId="urn:microsoft.com/office/officeart/2005/8/layout/orgChart1#1"/>
    <dgm:cxn modelId="{8B6064FA-8815-4715-A732-DC5563F78679}" type="presParOf" srcId="{9C96AE4F-31D0-46F7-A906-4E52D100F3DC}" destId="{82AC8889-0F9F-4DBF-B1EF-22BBB4BC9673}" srcOrd="1" destOrd="0" presId="urn:microsoft.com/office/officeart/2005/8/layout/orgChart1#1"/>
    <dgm:cxn modelId="{87712277-CD10-4CE4-B94A-B3EFAD7763D3}" type="presParOf" srcId="{82AC8889-0F9F-4DBF-B1EF-22BBB4BC9673}" destId="{5FFAE31A-7EA8-42FD-97F5-47AFEAB2C48B}" srcOrd="0" destOrd="0" presId="urn:microsoft.com/office/officeart/2005/8/layout/orgChart1#1"/>
    <dgm:cxn modelId="{4B2BDAC7-1F83-4422-AAB3-141184DF87F5}" type="presParOf" srcId="{82AC8889-0F9F-4DBF-B1EF-22BBB4BC9673}" destId="{43E8C554-AEE9-414D-8FEB-FFCD7DD69166}" srcOrd="1" destOrd="0" presId="urn:microsoft.com/office/officeart/2005/8/layout/orgChart1#1"/>
    <dgm:cxn modelId="{D6BBCF4C-88E0-45A2-AE16-F0A55671CC67}" type="presParOf" srcId="{43E8C554-AEE9-414D-8FEB-FFCD7DD69166}" destId="{43DFBF0D-F423-4EA5-ACA1-DF74FC3EBD5A}" srcOrd="0" destOrd="0" presId="urn:microsoft.com/office/officeart/2005/8/layout/orgChart1#1"/>
    <dgm:cxn modelId="{4F378812-E755-4AF3-BE60-004A202E5567}" type="presParOf" srcId="{43DFBF0D-F423-4EA5-ACA1-DF74FC3EBD5A}" destId="{BCC16C2F-EE2C-4978-8160-5C59B10283EC}" srcOrd="0" destOrd="0" presId="urn:microsoft.com/office/officeart/2005/8/layout/orgChart1#1"/>
    <dgm:cxn modelId="{FD57F7FA-F5E1-41B6-AABC-8ADAB2CFE342}" type="presParOf" srcId="{43DFBF0D-F423-4EA5-ACA1-DF74FC3EBD5A}" destId="{93ACD517-37C9-4160-B00F-5593B923A688}" srcOrd="1" destOrd="0" presId="urn:microsoft.com/office/officeart/2005/8/layout/orgChart1#1"/>
    <dgm:cxn modelId="{5006DB21-AA50-4DE6-9D04-2FAF44D21634}" type="presParOf" srcId="{43E8C554-AEE9-414D-8FEB-FFCD7DD69166}" destId="{7EEDC3DD-EDFC-43BC-9AEA-AE255A6A0DE2}" srcOrd="1" destOrd="0" presId="urn:microsoft.com/office/officeart/2005/8/layout/orgChart1#1"/>
    <dgm:cxn modelId="{23D77C0E-7001-4A40-B6C2-5536826B6A36}" type="presParOf" srcId="{43E8C554-AEE9-414D-8FEB-FFCD7DD69166}" destId="{35C57CDD-D906-44BD-A095-7840D1DE0F15}" srcOrd="2" destOrd="0" presId="urn:microsoft.com/office/officeart/2005/8/layout/orgChart1#1"/>
    <dgm:cxn modelId="{EA13ADE2-675D-4552-8DCE-A36AB7947EF3}" type="presParOf" srcId="{82AC8889-0F9F-4DBF-B1EF-22BBB4BC9673}" destId="{FA92F374-5E2E-43F5-A49A-92E2D83B5290}" srcOrd="2" destOrd="0" presId="urn:microsoft.com/office/officeart/2005/8/layout/orgChart1#1"/>
    <dgm:cxn modelId="{A598BC55-043C-44F1-9CA5-833B5D41D0F5}" type="presParOf" srcId="{82AC8889-0F9F-4DBF-B1EF-22BBB4BC9673}" destId="{8A6300A7-14EF-43E1-9E28-47B07AC69E60}" srcOrd="3" destOrd="0" presId="urn:microsoft.com/office/officeart/2005/8/layout/orgChart1#1"/>
    <dgm:cxn modelId="{BBB619E9-268A-42B3-8C64-4E0EEBCE72E6}" type="presParOf" srcId="{8A6300A7-14EF-43E1-9E28-47B07AC69E60}" destId="{28B91C76-5515-484E-80C0-1F69E9366253}" srcOrd="0" destOrd="0" presId="urn:microsoft.com/office/officeart/2005/8/layout/orgChart1#1"/>
    <dgm:cxn modelId="{4AF2CEED-8824-4DA7-B788-775FF1FC0B6B}" type="presParOf" srcId="{28B91C76-5515-484E-80C0-1F69E9366253}" destId="{8D8BB15D-8498-4535-9C0D-6CFC6836C2D6}" srcOrd="0" destOrd="0" presId="urn:microsoft.com/office/officeart/2005/8/layout/orgChart1#1"/>
    <dgm:cxn modelId="{D892D1CF-0CDB-4006-AF10-BA76657D4F68}" type="presParOf" srcId="{28B91C76-5515-484E-80C0-1F69E9366253}" destId="{4FAE7C28-AA39-4381-A5FD-E8958C2430CD}" srcOrd="1" destOrd="0" presId="urn:microsoft.com/office/officeart/2005/8/layout/orgChart1#1"/>
    <dgm:cxn modelId="{0DD78EEE-E8AD-4C9F-A290-01192732DE8D}" type="presParOf" srcId="{8A6300A7-14EF-43E1-9E28-47B07AC69E60}" destId="{C9C2648E-BDF8-41AC-9AA2-E2C2E90F7484}" srcOrd="1" destOrd="0" presId="urn:microsoft.com/office/officeart/2005/8/layout/orgChart1#1"/>
    <dgm:cxn modelId="{EEA76FC9-F5C7-4970-9442-DA19196CC673}" type="presParOf" srcId="{8A6300A7-14EF-43E1-9E28-47B07AC69E60}" destId="{981528DC-5EFD-425C-942E-D1874A0A0C3D}" srcOrd="2" destOrd="0" presId="urn:microsoft.com/office/officeart/2005/8/layout/orgChart1#1"/>
    <dgm:cxn modelId="{EC6457F9-5D47-45D1-8005-DA903B835054}" type="presParOf" srcId="{82AC8889-0F9F-4DBF-B1EF-22BBB4BC9673}" destId="{AC43593C-4874-4BE1-B2E7-D1C055867279}" srcOrd="4" destOrd="0" presId="urn:microsoft.com/office/officeart/2005/8/layout/orgChart1#1"/>
    <dgm:cxn modelId="{1F07F901-7F63-4346-BD23-F09F316D16C7}" type="presParOf" srcId="{82AC8889-0F9F-4DBF-B1EF-22BBB4BC9673}" destId="{B3F29067-C2C9-4C84-A8B6-26F7B45EAE72}" srcOrd="5" destOrd="0" presId="urn:microsoft.com/office/officeart/2005/8/layout/orgChart1#1"/>
    <dgm:cxn modelId="{C9C52D7F-773B-477B-BE8E-42D5F6403E7A}" type="presParOf" srcId="{B3F29067-C2C9-4C84-A8B6-26F7B45EAE72}" destId="{A11E6A8D-1487-40B8-A8E5-B4081805D7AD}" srcOrd="0" destOrd="0" presId="urn:microsoft.com/office/officeart/2005/8/layout/orgChart1#1"/>
    <dgm:cxn modelId="{431B0430-0295-4B50-BE6C-ADD8E7FB1964}" type="presParOf" srcId="{A11E6A8D-1487-40B8-A8E5-B4081805D7AD}" destId="{23873364-D2C1-4C52-B879-EA1303D3078E}" srcOrd="0" destOrd="0" presId="urn:microsoft.com/office/officeart/2005/8/layout/orgChart1#1"/>
    <dgm:cxn modelId="{89895154-0A3F-4991-8472-6F9D4C1AE257}" type="presParOf" srcId="{A11E6A8D-1487-40B8-A8E5-B4081805D7AD}" destId="{DAFAF830-A121-42A4-8B1B-C0850A66A1E0}" srcOrd="1" destOrd="0" presId="urn:microsoft.com/office/officeart/2005/8/layout/orgChart1#1"/>
    <dgm:cxn modelId="{76E1F30D-BA5A-4906-BC14-FBB12D5BFD1C}" type="presParOf" srcId="{B3F29067-C2C9-4C84-A8B6-26F7B45EAE72}" destId="{DA7F9113-EE52-481A-B724-85938E425F98}" srcOrd="1" destOrd="0" presId="urn:microsoft.com/office/officeart/2005/8/layout/orgChart1#1"/>
    <dgm:cxn modelId="{DB9EF9AD-0B9B-4BE7-BC25-445DFC1E65BC}" type="presParOf" srcId="{B3F29067-C2C9-4C84-A8B6-26F7B45EAE72}" destId="{B1529A4C-5A7B-43CA-9F03-B8FA27FE8A01}" srcOrd="2" destOrd="0" presId="urn:microsoft.com/office/officeart/2005/8/layout/orgChart1#1"/>
    <dgm:cxn modelId="{E32C587A-EA22-4472-91B7-89AB9D81DEEA}" type="presParOf" srcId="{82AC8889-0F9F-4DBF-B1EF-22BBB4BC9673}" destId="{DD80D084-D9BD-4560-B8EE-7D35E8644DFD}" srcOrd="6" destOrd="0" presId="urn:microsoft.com/office/officeart/2005/8/layout/orgChart1#1"/>
    <dgm:cxn modelId="{E741411D-DB79-4C9B-AA81-EB28310D8840}" type="presParOf" srcId="{82AC8889-0F9F-4DBF-B1EF-22BBB4BC9673}" destId="{FCDEC3EA-4D97-42BC-A8B8-7AC2DE6B5A3E}" srcOrd="7" destOrd="0" presId="urn:microsoft.com/office/officeart/2005/8/layout/orgChart1#1"/>
    <dgm:cxn modelId="{F5D736B5-0ABB-422A-A794-FAEABEC11BD3}" type="presParOf" srcId="{FCDEC3EA-4D97-42BC-A8B8-7AC2DE6B5A3E}" destId="{41C357FA-58C1-4E3C-8A6B-E03E40AE3681}" srcOrd="0" destOrd="0" presId="urn:microsoft.com/office/officeart/2005/8/layout/orgChart1#1"/>
    <dgm:cxn modelId="{E3142FF9-E604-44A3-8221-77EE26384514}" type="presParOf" srcId="{41C357FA-58C1-4E3C-8A6B-E03E40AE3681}" destId="{3F21B8B1-0D9F-4C46-B617-BB815EF26561}" srcOrd="0" destOrd="0" presId="urn:microsoft.com/office/officeart/2005/8/layout/orgChart1#1"/>
    <dgm:cxn modelId="{0E33E9A7-9045-4628-B2CA-8D333F957D28}" type="presParOf" srcId="{41C357FA-58C1-4E3C-8A6B-E03E40AE3681}" destId="{AB1E6CA9-EB73-412F-BA52-2CE173D31D57}" srcOrd="1" destOrd="0" presId="urn:microsoft.com/office/officeart/2005/8/layout/orgChart1#1"/>
    <dgm:cxn modelId="{44CBC470-1E8A-4B2B-A153-1FDAB215E207}" type="presParOf" srcId="{FCDEC3EA-4D97-42BC-A8B8-7AC2DE6B5A3E}" destId="{BF48E0DE-8B78-49EB-B62E-03E0C043A63C}" srcOrd="1" destOrd="0" presId="urn:microsoft.com/office/officeart/2005/8/layout/orgChart1#1"/>
    <dgm:cxn modelId="{4AA7462B-3B1A-4EA3-B08B-F34C22AA8D94}" type="presParOf" srcId="{FCDEC3EA-4D97-42BC-A8B8-7AC2DE6B5A3E}" destId="{6D5B8DA1-8CDC-4C21-87C4-3DC0B015BB08}" srcOrd="2" destOrd="0" presId="urn:microsoft.com/office/officeart/2005/8/layout/orgChart1#1"/>
    <dgm:cxn modelId="{8DD63CEB-8613-47CF-82AB-C8F14AE73BDE}" type="presParOf" srcId="{82AC8889-0F9F-4DBF-B1EF-22BBB4BC9673}" destId="{7CAA2617-677F-4CB3-83A1-9D6A5E8E7F63}" srcOrd="8" destOrd="0" presId="urn:microsoft.com/office/officeart/2005/8/layout/orgChart1#1"/>
    <dgm:cxn modelId="{7042C1DB-B11E-4CE9-93D4-BA9F4B262EFC}" type="presParOf" srcId="{82AC8889-0F9F-4DBF-B1EF-22BBB4BC9673}" destId="{6FA02DEC-18CE-4DE8-AD73-08DD27086E9C}" srcOrd="9" destOrd="0" presId="urn:microsoft.com/office/officeart/2005/8/layout/orgChart1#1"/>
    <dgm:cxn modelId="{C5374D9A-C1FA-4D86-8577-25BB7E890CAA}" type="presParOf" srcId="{6FA02DEC-18CE-4DE8-AD73-08DD27086E9C}" destId="{FB4E279D-648F-45EA-BCD2-C9F8420DB214}" srcOrd="0" destOrd="0" presId="urn:microsoft.com/office/officeart/2005/8/layout/orgChart1#1"/>
    <dgm:cxn modelId="{06AEA345-35C4-4DC5-8DA1-AA4BC24DF0DE}" type="presParOf" srcId="{FB4E279D-648F-45EA-BCD2-C9F8420DB214}" destId="{918ECB13-D9A5-4B09-BCE3-00C79E621EA1}" srcOrd="0" destOrd="0" presId="urn:microsoft.com/office/officeart/2005/8/layout/orgChart1#1"/>
    <dgm:cxn modelId="{6A4FFCFE-904F-40AE-BE85-7B1A2247B028}" type="presParOf" srcId="{FB4E279D-648F-45EA-BCD2-C9F8420DB214}" destId="{09659F6A-4311-4A67-B965-68EFEB41B273}" srcOrd="1" destOrd="0" presId="urn:microsoft.com/office/officeart/2005/8/layout/orgChart1#1"/>
    <dgm:cxn modelId="{CB8B319B-17E8-4532-BFC1-F1CA92639095}" type="presParOf" srcId="{6FA02DEC-18CE-4DE8-AD73-08DD27086E9C}" destId="{8628055E-3748-4013-98F1-D60E43A88B31}" srcOrd="1" destOrd="0" presId="urn:microsoft.com/office/officeart/2005/8/layout/orgChart1#1"/>
    <dgm:cxn modelId="{636CA93B-457A-468B-92D5-C895AF2F4C20}" type="presParOf" srcId="{6FA02DEC-18CE-4DE8-AD73-08DD27086E9C}" destId="{47A55183-A6D0-41D1-B779-D403DFD5D2C6}" srcOrd="2" destOrd="0" presId="urn:microsoft.com/office/officeart/2005/8/layout/orgChart1#1"/>
    <dgm:cxn modelId="{D639951F-BDD9-41A0-A64F-892281A45EED}" type="presParOf" srcId="{9C96AE4F-31D0-46F7-A906-4E52D100F3DC}" destId="{0BEF2D59-F134-4764-B0C5-2F58FDA8ADC7}" srcOrd="2" destOrd="0" presId="urn:microsoft.com/office/officeart/2005/8/layout/orgChart1#1"/>
    <dgm:cxn modelId="{AABB840D-C2EB-4DCF-BF7C-D4B3DB60771D}" type="presParOf" srcId="{C33697B3-0441-4563-AEEF-A3DB945BD79B}" destId="{FACD50EF-CE4B-4C21-B7B4-6114E3784034}" srcOrd="2" destOrd="0" presId="urn:microsoft.com/office/officeart/2005/8/layout/orgChar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A2617-677F-4CB3-83A1-9D6A5E8E7F63}">
      <dsp:nvSpPr>
        <dsp:cNvPr id="0" name=""/>
        <dsp:cNvSpPr/>
      </dsp:nvSpPr>
      <dsp:spPr>
        <a:xfrm>
          <a:off x="4227512" y="2576086"/>
          <a:ext cx="3485302" cy="259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503"/>
              </a:lnTo>
              <a:lnTo>
                <a:pt x="3485302" y="129503"/>
              </a:lnTo>
              <a:lnTo>
                <a:pt x="3485302" y="259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80D084-D9BD-4560-B8EE-7D35E8644DFD}">
      <dsp:nvSpPr>
        <dsp:cNvPr id="0" name=""/>
        <dsp:cNvSpPr/>
      </dsp:nvSpPr>
      <dsp:spPr>
        <a:xfrm>
          <a:off x="4227512" y="2576086"/>
          <a:ext cx="1742651" cy="259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503"/>
              </a:lnTo>
              <a:lnTo>
                <a:pt x="1742651" y="129503"/>
              </a:lnTo>
              <a:lnTo>
                <a:pt x="1742651" y="259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43593C-4874-4BE1-B2E7-D1C055867279}">
      <dsp:nvSpPr>
        <dsp:cNvPr id="0" name=""/>
        <dsp:cNvSpPr/>
      </dsp:nvSpPr>
      <dsp:spPr>
        <a:xfrm>
          <a:off x="4181792" y="2576086"/>
          <a:ext cx="91440" cy="25900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9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92F374-5E2E-43F5-A49A-92E2D83B5290}">
      <dsp:nvSpPr>
        <dsp:cNvPr id="0" name=""/>
        <dsp:cNvSpPr/>
      </dsp:nvSpPr>
      <dsp:spPr>
        <a:xfrm>
          <a:off x="2484861" y="2576086"/>
          <a:ext cx="1742651" cy="259007"/>
        </a:xfrm>
        <a:custGeom>
          <a:avLst/>
          <a:gdLst/>
          <a:ahLst/>
          <a:cxnLst/>
          <a:rect l="0" t="0" r="0" b="0"/>
          <a:pathLst>
            <a:path>
              <a:moveTo>
                <a:pt x="1742651" y="0"/>
              </a:moveTo>
              <a:lnTo>
                <a:pt x="1742651" y="129503"/>
              </a:lnTo>
              <a:lnTo>
                <a:pt x="0" y="129503"/>
              </a:lnTo>
              <a:lnTo>
                <a:pt x="0" y="259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FAE31A-7EA8-42FD-97F5-47AFEAB2C48B}">
      <dsp:nvSpPr>
        <dsp:cNvPr id="0" name=""/>
        <dsp:cNvSpPr/>
      </dsp:nvSpPr>
      <dsp:spPr>
        <a:xfrm>
          <a:off x="742210" y="2576086"/>
          <a:ext cx="3485302" cy="259007"/>
        </a:xfrm>
        <a:custGeom>
          <a:avLst/>
          <a:gdLst/>
          <a:ahLst/>
          <a:cxnLst/>
          <a:rect l="0" t="0" r="0" b="0"/>
          <a:pathLst>
            <a:path>
              <a:moveTo>
                <a:pt x="3485302" y="0"/>
              </a:moveTo>
              <a:lnTo>
                <a:pt x="3485302" y="129503"/>
              </a:lnTo>
              <a:lnTo>
                <a:pt x="0" y="129503"/>
              </a:lnTo>
              <a:lnTo>
                <a:pt x="0" y="259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586134-37D4-49B8-8541-36C4584E952E}">
      <dsp:nvSpPr>
        <dsp:cNvPr id="0" name=""/>
        <dsp:cNvSpPr/>
      </dsp:nvSpPr>
      <dsp:spPr>
        <a:xfrm>
          <a:off x="4181792" y="1700394"/>
          <a:ext cx="91440" cy="25900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90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C31DA5-46D2-46CC-9984-0AB65AA1B6F5}">
      <dsp:nvSpPr>
        <dsp:cNvPr id="0" name=""/>
        <dsp:cNvSpPr/>
      </dsp:nvSpPr>
      <dsp:spPr>
        <a:xfrm>
          <a:off x="3338222" y="1083710"/>
          <a:ext cx="1778579" cy="616684"/>
        </a:xfrm>
        <a:prstGeom prst="rect">
          <a:avLst/>
        </a:prstGeom>
        <a:solidFill>
          <a:schemeClr val="bg1">
            <a:lumMod val="85000"/>
          </a:schemeClr>
        </a:solidFill>
        <a:ln w="31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Deputy Head of Business Development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Friska</a:t>
          </a:r>
          <a:r>
            <a:rPr kumimoji="0" lang="en-US" sz="12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en-US" sz="1200" b="1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Alfrida</a:t>
          </a:r>
          <a:r>
            <a:rPr kumimoji="0" lang="en-US" sz="12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Angelia T</a:t>
          </a:r>
        </a:p>
      </dsp:txBody>
      <dsp:txXfrm>
        <a:off x="3338222" y="1083710"/>
        <a:ext cx="1778579" cy="616684"/>
      </dsp:txXfrm>
    </dsp:sp>
    <dsp:sp modelId="{2FF3262B-9D4C-41C2-9EDB-BDE0A8179CCB}">
      <dsp:nvSpPr>
        <dsp:cNvPr id="0" name=""/>
        <dsp:cNvSpPr/>
      </dsp:nvSpPr>
      <dsp:spPr>
        <a:xfrm>
          <a:off x="3485690" y="1959401"/>
          <a:ext cx="1483643" cy="616684"/>
        </a:xfrm>
        <a:prstGeom prst="rect">
          <a:avLst/>
        </a:prstGeom>
        <a:solidFill>
          <a:schemeClr val="bg1">
            <a:lumMod val="85000"/>
          </a:schemeClr>
        </a:solidFill>
        <a:ln w="31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Project Leader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[Name]</a:t>
          </a:r>
        </a:p>
      </dsp:txBody>
      <dsp:txXfrm>
        <a:off x="3485690" y="1959401"/>
        <a:ext cx="1483643" cy="616684"/>
      </dsp:txXfrm>
    </dsp:sp>
    <dsp:sp modelId="{BCC16C2F-EE2C-4978-8160-5C59B10283EC}">
      <dsp:nvSpPr>
        <dsp:cNvPr id="0" name=""/>
        <dsp:cNvSpPr/>
      </dsp:nvSpPr>
      <dsp:spPr>
        <a:xfrm>
          <a:off x="388" y="2835093"/>
          <a:ext cx="1483643" cy="616684"/>
        </a:xfrm>
        <a:prstGeom prst="rect">
          <a:avLst/>
        </a:prstGeom>
        <a:solidFill>
          <a:schemeClr val="bg1">
            <a:lumMod val="85000"/>
          </a:schemeClr>
        </a:solidFill>
        <a:ln w="31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sp:txBody>
      <dsp:txXfrm>
        <a:off x="388" y="2835093"/>
        <a:ext cx="1483643" cy="616684"/>
      </dsp:txXfrm>
    </dsp:sp>
    <dsp:sp modelId="{8D8BB15D-8498-4535-9C0D-6CFC6836C2D6}">
      <dsp:nvSpPr>
        <dsp:cNvPr id="0" name=""/>
        <dsp:cNvSpPr/>
      </dsp:nvSpPr>
      <dsp:spPr>
        <a:xfrm>
          <a:off x="1743039" y="2835093"/>
          <a:ext cx="1483643" cy="616684"/>
        </a:xfrm>
        <a:prstGeom prst="rect">
          <a:avLst/>
        </a:prstGeom>
        <a:solidFill>
          <a:schemeClr val="bg1">
            <a:lumMod val="85000"/>
          </a:schemeClr>
        </a:solidFill>
        <a:ln w="31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kern="1200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sp:txBody>
      <dsp:txXfrm>
        <a:off x="1743039" y="2835093"/>
        <a:ext cx="1483643" cy="616684"/>
      </dsp:txXfrm>
    </dsp:sp>
    <dsp:sp modelId="{23873364-D2C1-4C52-B879-EA1303D3078E}">
      <dsp:nvSpPr>
        <dsp:cNvPr id="0" name=""/>
        <dsp:cNvSpPr/>
      </dsp:nvSpPr>
      <dsp:spPr>
        <a:xfrm>
          <a:off x="3485690" y="2835093"/>
          <a:ext cx="1483643" cy="616684"/>
        </a:xfrm>
        <a:prstGeom prst="rect">
          <a:avLst/>
        </a:prstGeom>
        <a:solidFill>
          <a:schemeClr val="bg1">
            <a:lumMod val="85000"/>
          </a:schemeClr>
        </a:solidFill>
        <a:ln w="31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sp:txBody>
      <dsp:txXfrm>
        <a:off x="3485690" y="2835093"/>
        <a:ext cx="1483643" cy="616684"/>
      </dsp:txXfrm>
    </dsp:sp>
    <dsp:sp modelId="{3F21B8B1-0D9F-4C46-B617-BB815EF26561}">
      <dsp:nvSpPr>
        <dsp:cNvPr id="0" name=""/>
        <dsp:cNvSpPr/>
      </dsp:nvSpPr>
      <dsp:spPr>
        <a:xfrm>
          <a:off x="5228341" y="2835093"/>
          <a:ext cx="1483643" cy="616684"/>
        </a:xfrm>
        <a:prstGeom prst="rect">
          <a:avLst/>
        </a:prstGeom>
        <a:solidFill>
          <a:schemeClr val="bg1">
            <a:lumMod val="85000"/>
          </a:schemeClr>
        </a:solidFill>
        <a:ln w="31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sp:txBody>
      <dsp:txXfrm>
        <a:off x="5228341" y="2835093"/>
        <a:ext cx="1483643" cy="616684"/>
      </dsp:txXfrm>
    </dsp:sp>
    <dsp:sp modelId="{918ECB13-D9A5-4B09-BCE3-00C79E621EA1}">
      <dsp:nvSpPr>
        <dsp:cNvPr id="0" name=""/>
        <dsp:cNvSpPr/>
      </dsp:nvSpPr>
      <dsp:spPr>
        <a:xfrm>
          <a:off x="6970992" y="2835093"/>
          <a:ext cx="1483643" cy="616684"/>
        </a:xfrm>
        <a:prstGeom prst="rect">
          <a:avLst/>
        </a:prstGeom>
        <a:solidFill>
          <a:schemeClr val="bg1">
            <a:lumMod val="85000"/>
          </a:schemeClr>
        </a:solidFill>
        <a:ln w="3175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[Member Name]</a:t>
          </a:r>
          <a:endParaRPr kumimoji="0" lang="en-US" sz="12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sz="12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[Role]</a:t>
          </a:r>
        </a:p>
      </dsp:txBody>
      <dsp:txXfrm>
        <a:off x="6970992" y="2835093"/>
        <a:ext cx="1483643" cy="616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#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microsoft.com/office/2007/relationships/hdphoto" Target="../media/hdphoto1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6000" y="1953053"/>
            <a:ext cx="7696200" cy="1752600"/>
          </a:xfrm>
          <a:prstGeom prst="rect">
            <a:avLst/>
          </a:prstGeom>
          <a:solidFill>
            <a:schemeClr val="bg1">
              <a:lumMod val="8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900" y="1428115"/>
            <a:ext cx="7772400" cy="280289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id-ID" sz="4000" dirty="0"/>
              <a:t>............................................. </a:t>
            </a:r>
            <a:br>
              <a:rPr lang="id-ID" sz="4000" dirty="0"/>
            </a:br>
            <a:r>
              <a:rPr lang="id-ID" sz="1800" dirty="0"/>
              <a:t>(Judul)</a:t>
            </a:r>
            <a:br>
              <a:rPr lang="en-US" sz="1800" dirty="0"/>
            </a:br>
            <a:br>
              <a:rPr lang="en-US" sz="2000" dirty="0"/>
            </a:br>
            <a:r>
              <a:rPr lang="id-ID" sz="4000" dirty="0"/>
              <a:t>.............................................</a:t>
            </a:r>
            <a:r>
              <a:rPr lang="id-ID" sz="2000" dirty="0"/>
              <a:t> </a:t>
            </a:r>
            <a:br>
              <a:rPr lang="id-ID" sz="2000" dirty="0"/>
            </a:br>
            <a:r>
              <a:rPr lang="id-ID" sz="1800" dirty="0"/>
              <a:t>(Deskripsi Judul)</a:t>
            </a:r>
            <a:br>
              <a:rPr lang="en-US" sz="1800" dirty="0"/>
            </a:br>
            <a:br>
              <a:rPr lang="en-US" sz="11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1198246" y="4813300"/>
            <a:ext cx="4714875" cy="1814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0" hangingPunct="0"/>
            <a:r>
              <a:rPr lang="en-US" sz="1400" dirty="0">
                <a:latin typeface="Futura Md BT" pitchFamily="34" charset="0"/>
                <a:sym typeface="+mn-ea"/>
              </a:rPr>
              <a:t>Category </a:t>
            </a:r>
            <a:r>
              <a:rPr lang="id-ID" altLang="en-US" sz="1400" dirty="0">
                <a:latin typeface="Futura Md BT" pitchFamily="34" charset="0"/>
                <a:sym typeface="+mn-ea"/>
              </a:rPr>
              <a:t>NONY</a:t>
            </a:r>
            <a:endParaRPr lang="en-US" sz="1400" dirty="0">
              <a:latin typeface="Futura Md BT" pitchFamily="34" charset="0"/>
            </a:endParaRPr>
          </a:p>
          <a:p>
            <a:pPr algn="ctr" eaLnBrk="0" hangingPunct="0"/>
            <a:endParaRPr lang="en-US" sz="1400" dirty="0">
              <a:latin typeface="Futura Md BT" pitchFamily="34" charset="0"/>
            </a:endParaRPr>
          </a:p>
          <a:p>
            <a:pPr eaLnBrk="0" hangingPunct="0"/>
            <a:r>
              <a:rPr lang="en-US" sz="1400" dirty="0" err="1">
                <a:latin typeface="Futura Md BT" pitchFamily="34" charset="0"/>
              </a:rPr>
              <a:t>Nama</a:t>
            </a:r>
            <a:r>
              <a:rPr lang="en-US" sz="1400" dirty="0">
                <a:latin typeface="Futura Md BT" pitchFamily="34" charset="0"/>
              </a:rPr>
              <a:t> Tim</a:t>
            </a:r>
            <a:r>
              <a:rPr lang="id-ID" altLang="en-US" sz="1400" dirty="0">
                <a:latin typeface="Futura Md BT" pitchFamily="34" charset="0"/>
              </a:rPr>
              <a:t>	:</a:t>
            </a:r>
            <a:r>
              <a:rPr lang="id-ID" sz="1400" dirty="0">
                <a:latin typeface="Futura Md BT" pitchFamily="34" charset="0"/>
              </a:rPr>
              <a:t>..............................................</a:t>
            </a:r>
            <a:endParaRPr lang="en-US" sz="1400" dirty="0">
              <a:latin typeface="Futura Md BT" pitchFamily="34" charset="0"/>
            </a:endParaRPr>
          </a:p>
          <a:p>
            <a:pPr eaLnBrk="0" hangingPunct="0"/>
            <a:r>
              <a:rPr lang="en-US" sz="1400" dirty="0">
                <a:latin typeface="Futura Md BT" pitchFamily="34" charset="0"/>
              </a:rPr>
              <a:t>Team Leader/NRP </a:t>
            </a:r>
            <a:r>
              <a:rPr lang="id-ID" altLang="en-US" sz="1400" dirty="0">
                <a:latin typeface="Futura Md BT" pitchFamily="34" charset="0"/>
              </a:rPr>
              <a:t>	</a:t>
            </a:r>
            <a:r>
              <a:rPr lang="en-US" sz="1400" dirty="0">
                <a:latin typeface="Futura Md BT" pitchFamily="34" charset="0"/>
              </a:rPr>
              <a:t>: </a:t>
            </a:r>
            <a:r>
              <a:rPr lang="id-ID" sz="1400" dirty="0">
                <a:latin typeface="Futura Md BT" pitchFamily="34" charset="0"/>
              </a:rPr>
              <a:t>............................................</a:t>
            </a:r>
            <a:r>
              <a:rPr lang="en-US" sz="1400" dirty="0">
                <a:latin typeface="Futura Md BT" pitchFamily="34" charset="0"/>
              </a:rPr>
              <a:t>...</a:t>
            </a:r>
          </a:p>
          <a:p>
            <a:pPr eaLnBrk="0" hangingPunct="0"/>
            <a:r>
              <a:rPr lang="en-US" sz="1400" dirty="0">
                <a:latin typeface="Futura Md BT" pitchFamily="34" charset="0"/>
              </a:rPr>
              <a:t>Team Member/NRP</a:t>
            </a:r>
            <a:r>
              <a:rPr lang="id-ID" altLang="en-US" sz="1400" dirty="0">
                <a:latin typeface="Futura Md BT" pitchFamily="34" charset="0"/>
              </a:rPr>
              <a:t>	</a:t>
            </a:r>
            <a:r>
              <a:rPr lang="en-US" sz="1400" dirty="0">
                <a:latin typeface="Futura Md BT" pitchFamily="34" charset="0"/>
              </a:rPr>
              <a:t>: </a:t>
            </a:r>
            <a:r>
              <a:rPr lang="id-ID" sz="1400" dirty="0">
                <a:latin typeface="Futura Md BT" pitchFamily="34" charset="0"/>
              </a:rPr>
              <a:t>........................</a:t>
            </a:r>
            <a:r>
              <a:rPr lang="en-US" sz="1400" dirty="0">
                <a:latin typeface="Futura Md BT" pitchFamily="34" charset="0"/>
              </a:rPr>
              <a:t>..</a:t>
            </a:r>
            <a:r>
              <a:rPr lang="id-ID" altLang="en-US" sz="1400" dirty="0">
                <a:latin typeface="Futura Md BT" pitchFamily="34" charset="0"/>
              </a:rPr>
              <a:t>.................</a:t>
            </a:r>
            <a:r>
              <a:rPr lang="en-US" sz="1400" dirty="0">
                <a:latin typeface="Futura Md BT" pitchFamily="34" charset="0"/>
              </a:rPr>
              <a:t>...</a:t>
            </a:r>
            <a:r>
              <a:rPr lang="id-ID" sz="1400" dirty="0">
                <a:latin typeface="Futura Md BT" pitchFamily="34" charset="0"/>
              </a:rPr>
              <a:t> </a:t>
            </a:r>
          </a:p>
          <a:p>
            <a:pPr eaLnBrk="0" hangingPunct="0"/>
            <a:r>
              <a:rPr lang="en-US" sz="1400" dirty="0" err="1">
                <a:latin typeface="Futura Md BT" pitchFamily="34" charset="0"/>
              </a:rPr>
              <a:t>Fasilitator</a:t>
            </a:r>
            <a:r>
              <a:rPr lang="en-US" sz="1400" dirty="0">
                <a:latin typeface="Futura Md BT" pitchFamily="34" charset="0"/>
              </a:rPr>
              <a:t>/NRP</a:t>
            </a:r>
            <a:r>
              <a:rPr lang="id-ID" altLang="en-US" sz="1400" dirty="0">
                <a:latin typeface="Futura Md BT" pitchFamily="34" charset="0"/>
              </a:rPr>
              <a:t>	</a:t>
            </a:r>
            <a:r>
              <a:rPr lang="id-ID" sz="1400" dirty="0">
                <a:latin typeface="Futura Md BT" pitchFamily="34" charset="0"/>
              </a:rPr>
              <a:t>: ...............................................</a:t>
            </a:r>
            <a:endParaRPr lang="en-US" sz="1400" dirty="0">
              <a:latin typeface="Futura Md BT" pitchFamily="34" charset="0"/>
            </a:endParaRPr>
          </a:p>
          <a:p>
            <a:pPr eaLnBrk="0" hangingPunct="0"/>
            <a:r>
              <a:rPr lang="en-US" sz="1400" dirty="0">
                <a:latin typeface="Futura Md BT" pitchFamily="34" charset="0"/>
              </a:rPr>
              <a:t>Cab/Site/</a:t>
            </a:r>
            <a:r>
              <a:rPr lang="en-US" sz="1400" dirty="0" err="1">
                <a:latin typeface="Futura Md BT" pitchFamily="34" charset="0"/>
              </a:rPr>
              <a:t>Div</a:t>
            </a:r>
            <a:r>
              <a:rPr lang="id-ID" altLang="en-US" sz="1400" dirty="0" err="1">
                <a:latin typeface="Futura Md BT" pitchFamily="34" charset="0"/>
              </a:rPr>
              <a:t>	</a:t>
            </a:r>
            <a:r>
              <a:rPr lang="en-US" sz="1400" dirty="0">
                <a:latin typeface="Futura Md BT" pitchFamily="34" charset="0"/>
              </a:rPr>
              <a:t>: </a:t>
            </a:r>
            <a:r>
              <a:rPr lang="id-ID" sz="1400" dirty="0">
                <a:latin typeface="Futura Md BT" pitchFamily="34" charset="0"/>
              </a:rPr>
              <a:t>........................................</a:t>
            </a:r>
            <a:r>
              <a:rPr lang="en-US" sz="1400" dirty="0">
                <a:latin typeface="Futura Md BT" pitchFamily="34" charset="0"/>
              </a:rPr>
              <a:t>.......</a:t>
            </a:r>
          </a:p>
          <a:p>
            <a:pPr eaLnBrk="0" hangingPunct="0"/>
            <a:r>
              <a:rPr lang="en-US" sz="1400" dirty="0" err="1">
                <a:latin typeface="Futura Md BT" pitchFamily="34" charset="0"/>
              </a:rPr>
              <a:t>Dept</a:t>
            </a:r>
            <a:r>
              <a:rPr lang="en-US" sz="1400" dirty="0">
                <a:latin typeface="Futura Md BT" pitchFamily="34" charset="0"/>
              </a:rPr>
              <a:t>/Section</a:t>
            </a:r>
            <a:r>
              <a:rPr lang="id-ID" altLang="en-US" sz="1400" dirty="0">
                <a:latin typeface="Futura Md BT" pitchFamily="34" charset="0"/>
              </a:rPr>
              <a:t>	</a:t>
            </a:r>
            <a:r>
              <a:rPr lang="id-ID" sz="1400" dirty="0">
                <a:latin typeface="Futura Md BT" pitchFamily="34" charset="0"/>
              </a:rPr>
              <a:t>:</a:t>
            </a:r>
            <a:r>
              <a:rPr lang="en-US" sz="1400" dirty="0">
                <a:latin typeface="Futura Md BT" pitchFamily="34" charset="0"/>
              </a:rPr>
              <a:t> </a:t>
            </a:r>
            <a:r>
              <a:rPr lang="id-ID" sz="1400" dirty="0">
                <a:latin typeface="Futura Md BT" pitchFamily="34" charset="0"/>
              </a:rPr>
              <a:t>........................................</a:t>
            </a:r>
            <a:r>
              <a:rPr lang="en-US" sz="1400" dirty="0">
                <a:latin typeface="Futura Md BT" pitchFamily="34" charset="0"/>
              </a:rPr>
              <a:t>.......</a:t>
            </a: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7517130" y="4508500"/>
            <a:ext cx="3429000" cy="21193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65000"/>
              </a:schemeClr>
            </a:solidFill>
            <a:miter lim="800000"/>
          </a:ln>
        </p:spPr>
        <p:txBody>
          <a:bodyPr wrap="none" anchor="b"/>
          <a:lstStyle/>
          <a:p>
            <a:pPr algn="r">
              <a:defRPr/>
            </a:pPr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</a:rPr>
              <a:t>[Foto]</a:t>
            </a:r>
          </a:p>
        </p:txBody>
      </p:sp>
      <p:pic>
        <p:nvPicPr>
          <p:cNvPr id="7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  <p:sp>
        <p:nvSpPr>
          <p:cNvPr id="9" name="Judul 1"/>
          <p:cNvSpPr txBox="1"/>
          <p:nvPr/>
        </p:nvSpPr>
        <p:spPr>
          <a:xfrm>
            <a:off x="1839836" y="405698"/>
            <a:ext cx="8333120" cy="14255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4400" b="1" dirty="0" err="1"/>
              <a:t>Template</a:t>
            </a:r>
            <a:r>
              <a:rPr lang="id-ID" sz="4400" b="1" dirty="0"/>
              <a:t> Inovasi</a:t>
            </a:r>
          </a:p>
          <a:p>
            <a:r>
              <a:rPr lang="id-ID" sz="4400" b="1" dirty="0"/>
              <a:t>NONY </a:t>
            </a:r>
            <a:r>
              <a:rPr lang="id-ID" sz="3200" b="1" dirty="0"/>
              <a:t>(Inovasi Company)</a:t>
            </a:r>
          </a:p>
          <a:p>
            <a:r>
              <a:rPr lang="id-ID" sz="3200" b="1" dirty="0"/>
              <a:t>Max File 2 Mb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pt bakti optima cateri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  <p:grpSp>
        <p:nvGrpSpPr>
          <p:cNvPr id="43" name="Grup 42"/>
          <p:cNvGrpSpPr/>
          <p:nvPr/>
        </p:nvGrpSpPr>
        <p:grpSpPr>
          <a:xfrm>
            <a:off x="2138045" y="1218565"/>
            <a:ext cx="8116570" cy="4944110"/>
            <a:chOff x="3797" y="2522"/>
            <a:chExt cx="12782" cy="7786"/>
          </a:xfrm>
        </p:grpSpPr>
        <p:grpSp>
          <p:nvGrpSpPr>
            <p:cNvPr id="4" name="Group 3"/>
            <p:cNvGrpSpPr/>
            <p:nvPr/>
          </p:nvGrpSpPr>
          <p:grpSpPr>
            <a:xfrm>
              <a:off x="3797" y="2522"/>
              <a:ext cx="12782" cy="7786"/>
              <a:chOff x="-12700" y="-188585"/>
              <a:chExt cx="9753412" cy="631157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-12700" y="-188585"/>
                <a:ext cx="9753412" cy="6311573"/>
                <a:chOff x="-12700" y="-188585"/>
                <a:chExt cx="9753412" cy="6311573"/>
              </a:xfrm>
            </p:grpSpPr>
            <p:sp>
              <p:nvSpPr>
                <p:cNvPr id="9" name="Block Arc 8"/>
                <p:cNvSpPr/>
                <p:nvPr/>
              </p:nvSpPr>
              <p:spPr>
                <a:xfrm>
                  <a:off x="28575" y="2751768"/>
                  <a:ext cx="3125788" cy="3344862"/>
                </a:xfrm>
                <a:prstGeom prst="blockArc">
                  <a:avLst>
                    <a:gd name="adj1" fmla="val 10800000"/>
                    <a:gd name="adj2" fmla="val 16200000"/>
                    <a:gd name="adj3" fmla="val 4642"/>
                  </a:avLst>
                </a:prstGeom>
                <a:solidFill>
                  <a:srgbClr val="00B050"/>
                </a:solidFill>
                <a:ln>
                  <a:noFill/>
                </a:ln>
                <a:effectLst/>
              </p:spPr>
            </p:sp>
            <p:sp>
              <p:nvSpPr>
                <p:cNvPr id="10" name="Block Arc 9"/>
                <p:cNvSpPr/>
                <p:nvPr/>
              </p:nvSpPr>
              <p:spPr>
                <a:xfrm>
                  <a:off x="12700" y="2751138"/>
                  <a:ext cx="3124200" cy="3344862"/>
                </a:xfrm>
                <a:prstGeom prst="blockArc">
                  <a:avLst>
                    <a:gd name="adj1" fmla="val 16200000"/>
                    <a:gd name="adj2" fmla="val 0"/>
                    <a:gd name="adj3" fmla="val 4642"/>
                  </a:avLst>
                </a:prstGeom>
                <a:solidFill>
                  <a:srgbClr val="00B050"/>
                </a:solidFill>
                <a:ln>
                  <a:noFill/>
                </a:ln>
                <a:effectLst/>
              </p:spPr>
            </p:sp>
            <p:sp>
              <p:nvSpPr>
                <p:cNvPr id="11" name="Block Arc 10"/>
                <p:cNvSpPr/>
                <p:nvPr/>
              </p:nvSpPr>
              <p:spPr>
                <a:xfrm flipH="1" flipV="1">
                  <a:off x="2992438" y="2754313"/>
                  <a:ext cx="3125787" cy="3344862"/>
                </a:xfrm>
                <a:prstGeom prst="blockArc">
                  <a:avLst>
                    <a:gd name="adj1" fmla="val 10800000"/>
                    <a:gd name="adj2" fmla="val 16200000"/>
                    <a:gd name="adj3" fmla="val 4642"/>
                  </a:avLst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</p:sp>
            <p:sp>
              <p:nvSpPr>
                <p:cNvPr id="12" name="Block Arc 11"/>
                <p:cNvSpPr/>
                <p:nvPr/>
              </p:nvSpPr>
              <p:spPr>
                <a:xfrm flipH="1" flipV="1">
                  <a:off x="3005138" y="2753683"/>
                  <a:ext cx="3125787" cy="3344862"/>
                </a:xfrm>
                <a:prstGeom prst="blockArc">
                  <a:avLst>
                    <a:gd name="adj1" fmla="val 16200000"/>
                    <a:gd name="adj2" fmla="val 0"/>
                    <a:gd name="adj3" fmla="val 4642"/>
                  </a:avLst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</p:sp>
            <p:sp>
              <p:nvSpPr>
                <p:cNvPr id="13" name="Block Arc 12"/>
                <p:cNvSpPr/>
                <p:nvPr/>
              </p:nvSpPr>
              <p:spPr>
                <a:xfrm>
                  <a:off x="5989638" y="2778125"/>
                  <a:ext cx="3125787" cy="3344863"/>
                </a:xfrm>
                <a:prstGeom prst="blockArc">
                  <a:avLst>
                    <a:gd name="adj1" fmla="val 10800000"/>
                    <a:gd name="adj2" fmla="val 16200000"/>
                    <a:gd name="adj3" fmla="val 4642"/>
                  </a:avLst>
                </a:prstGeom>
                <a:solidFill>
                  <a:srgbClr val="00B0F0"/>
                </a:solidFill>
                <a:ln>
                  <a:noFill/>
                </a:ln>
                <a:effectLst/>
              </p:spPr>
            </p:sp>
            <p:sp>
              <p:nvSpPr>
                <p:cNvPr id="14" name="Block Arc 13"/>
                <p:cNvSpPr/>
                <p:nvPr/>
              </p:nvSpPr>
              <p:spPr>
                <a:xfrm>
                  <a:off x="5988050" y="2777168"/>
                  <a:ext cx="3125788" cy="3344862"/>
                </a:xfrm>
                <a:prstGeom prst="blockArc">
                  <a:avLst>
                    <a:gd name="adj1" fmla="val 16200000"/>
                    <a:gd name="adj2" fmla="val 0"/>
                    <a:gd name="adj3" fmla="val 4642"/>
                  </a:avLst>
                </a:prstGeom>
                <a:solidFill>
                  <a:srgbClr val="00B0F0"/>
                </a:solidFill>
                <a:ln>
                  <a:noFill/>
                </a:ln>
                <a:effectLst/>
              </p:spPr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-12700" y="4464050"/>
                  <a:ext cx="4113212" cy="362696"/>
                </a:xfrm>
                <a:prstGeom prst="rect">
                  <a:avLst/>
                </a:prstGeom>
                <a:noFill/>
              </p:spPr>
              <p:txBody>
                <a:bodyPr lIns="83238" tIns="41619" rIns="83238" bIns="41619">
                  <a:spAutoFit/>
                </a:bodyPr>
                <a:lstStyle/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1.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Pemetaan</a:t>
                  </a:r>
                  <a:endParaRPr lang="en-US" sz="1300" b="1" i="1" kern="0" dirty="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203073" y="2290325"/>
                  <a:ext cx="4114800" cy="618089"/>
                </a:xfrm>
                <a:prstGeom prst="rect">
                  <a:avLst/>
                </a:prstGeom>
                <a:noFill/>
              </p:spPr>
              <p:txBody>
                <a:bodyPr lIns="83238" tIns="41619" rIns="83238" bIns="41619">
                  <a:spAutoFit/>
                </a:bodyPr>
                <a:lstStyle/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2.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Penentuan</a:t>
                  </a:r>
                  <a:r>
                    <a:rPr lang="en-US" sz="1300" b="1" i="1" kern="0" dirty="0">
                      <a:cs typeface="Arial" panose="020B0604020202020204" pitchFamily="34" charset="0"/>
                    </a:rPr>
                    <a:t> </a:t>
                  </a:r>
                </a:p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    Target</a:t>
                  </a: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2313781" y="2668588"/>
                  <a:ext cx="4113212" cy="618089"/>
                </a:xfrm>
                <a:prstGeom prst="rect">
                  <a:avLst/>
                </a:prstGeom>
                <a:noFill/>
              </p:spPr>
              <p:txBody>
                <a:bodyPr lIns="83238" tIns="41619" rIns="83238" bIns="41619">
                  <a:spAutoFit/>
                </a:bodyPr>
                <a:lstStyle/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3.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Pencarian</a:t>
                  </a:r>
                  <a:r>
                    <a:rPr lang="en-US" sz="1300" b="1" i="1" kern="0" dirty="0">
                      <a:cs typeface="Arial" panose="020B0604020202020204" pitchFamily="34" charset="0"/>
                    </a:rPr>
                    <a:t> </a:t>
                  </a:r>
                </a:p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   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Akar</a:t>
                  </a:r>
                  <a:r>
                    <a:rPr lang="en-US" sz="1300" b="1" i="1" kern="0" dirty="0">
                      <a:cs typeface="Arial" panose="020B0604020202020204" pitchFamily="34" charset="0"/>
                    </a:rPr>
                    <a:t>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Masalah</a:t>
                  </a:r>
                  <a:endParaRPr lang="en-US" sz="1300" b="1" i="1" kern="0" dirty="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3125788" y="4468813"/>
                  <a:ext cx="4113212" cy="618089"/>
                </a:xfrm>
                <a:prstGeom prst="rect">
                  <a:avLst/>
                </a:prstGeom>
                <a:noFill/>
              </p:spPr>
              <p:txBody>
                <a:bodyPr lIns="83238" tIns="41619" rIns="83238" bIns="41619">
                  <a:spAutoFit/>
                </a:bodyPr>
                <a:lstStyle/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4.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Eksplorasi</a:t>
                  </a:r>
                  <a:r>
                    <a:rPr lang="en-US" sz="1300" b="1" i="1" kern="0" dirty="0">
                      <a:cs typeface="Arial" panose="020B0604020202020204" pitchFamily="34" charset="0"/>
                    </a:rPr>
                    <a:t> </a:t>
                  </a:r>
                </a:p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Ide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3735388" y="5402263"/>
                  <a:ext cx="4113212" cy="362696"/>
                </a:xfrm>
                <a:prstGeom prst="rect">
                  <a:avLst/>
                </a:prstGeom>
                <a:noFill/>
              </p:spPr>
              <p:txBody>
                <a:bodyPr lIns="83238" tIns="41619" rIns="83238" bIns="41619">
                  <a:spAutoFit/>
                </a:bodyPr>
                <a:lstStyle/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5.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Perencanaan</a:t>
                  </a:r>
                  <a:r>
                    <a:rPr lang="en-US" sz="1300" b="1" i="1" kern="0" dirty="0"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5543551" y="5614988"/>
                  <a:ext cx="2501695" cy="362696"/>
                </a:xfrm>
                <a:prstGeom prst="rect">
                  <a:avLst/>
                </a:prstGeom>
                <a:noFill/>
              </p:spPr>
              <p:txBody>
                <a:bodyPr wrap="square" lIns="83238" tIns="41619" rIns="83238" bIns="41619">
                  <a:spAutoFit/>
                </a:bodyPr>
                <a:lstStyle/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6.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Implementasi</a:t>
                  </a:r>
                  <a:r>
                    <a:rPr lang="en-US" sz="1300" b="1" i="1" kern="0" dirty="0"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8391336" y="4524039"/>
                  <a:ext cx="1349376" cy="618089"/>
                </a:xfrm>
                <a:prstGeom prst="rect">
                  <a:avLst/>
                </a:prstGeom>
                <a:noFill/>
              </p:spPr>
              <p:txBody>
                <a:bodyPr lIns="83238" tIns="41619" rIns="83238" bIns="41619">
                  <a:spAutoFit/>
                </a:bodyPr>
                <a:lstStyle/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9.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Langkah</a:t>
                  </a:r>
                  <a:r>
                    <a:rPr lang="en-US" sz="1300" b="1" i="1" kern="0" dirty="0">
                      <a:cs typeface="Arial" panose="020B0604020202020204" pitchFamily="34" charset="0"/>
                    </a:rPr>
                    <a:t> </a:t>
                  </a:r>
                </a:p>
                <a:p>
                  <a:pPr>
                    <a:defRPr/>
                  </a:pPr>
                  <a:r>
                    <a:rPr lang="en-US" sz="1300" b="1" i="1" kern="0" dirty="0">
                      <a:cs typeface="Arial" panose="020B0604020202020204" pitchFamily="34" charset="0"/>
                    </a:rPr>
                    <a:t>    </a:t>
                  </a:r>
                  <a:r>
                    <a:rPr lang="en-US" sz="1300" b="1" i="1" kern="0" dirty="0" err="1">
                      <a:cs typeface="Arial" panose="020B0604020202020204" pitchFamily="34" charset="0"/>
                    </a:rPr>
                    <a:t>selanjutnya</a:t>
                  </a:r>
                  <a:endParaRPr lang="en-US" sz="1300" b="1" i="1" kern="0" dirty="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4288" y="4219575"/>
                  <a:ext cx="209550" cy="239713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795338" y="2898775"/>
                  <a:ext cx="209550" cy="239713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4" name="Oval 23"/>
                <p:cNvSpPr/>
                <p:nvPr/>
              </p:nvSpPr>
              <p:spPr>
                <a:xfrm>
                  <a:off x="2279650" y="2971800"/>
                  <a:ext cx="209550" cy="238125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>
                  <a:off x="2954338" y="4284663"/>
                  <a:ext cx="207962" cy="239712"/>
                </a:xfrm>
                <a:prstGeom prst="ellipse">
                  <a:avLst/>
                </a:prstGeom>
                <a:solidFill>
                  <a:srgbClr val="F79646">
                    <a:lumMod val="75000"/>
                  </a:srgbClr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3695700" y="5670550"/>
                  <a:ext cx="209550" cy="239713"/>
                </a:xfrm>
                <a:prstGeom prst="ellipse">
                  <a:avLst/>
                </a:prstGeom>
                <a:solidFill>
                  <a:srgbClr val="F79646">
                    <a:lumMod val="75000"/>
                  </a:srgbClr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7" name="Oval 26"/>
                <p:cNvSpPr/>
                <p:nvPr/>
              </p:nvSpPr>
              <p:spPr>
                <a:xfrm>
                  <a:off x="5341938" y="5613400"/>
                  <a:ext cx="209550" cy="239713"/>
                </a:xfrm>
                <a:prstGeom prst="ellipse">
                  <a:avLst/>
                </a:prstGeom>
                <a:solidFill>
                  <a:srgbClr val="F79646">
                    <a:lumMod val="75000"/>
                  </a:srgbClr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5959475" y="4257675"/>
                  <a:ext cx="209550" cy="239713"/>
                </a:xfrm>
                <a:prstGeom prst="ellipse">
                  <a:avLst/>
                </a:prstGeom>
                <a:solidFill>
                  <a:srgbClr val="0070C0"/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7337425" y="2713038"/>
                  <a:ext cx="207963" cy="238125"/>
                </a:xfrm>
                <a:prstGeom prst="ellipse">
                  <a:avLst/>
                </a:prstGeom>
                <a:solidFill>
                  <a:srgbClr val="0070C0"/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8934450" y="4213225"/>
                  <a:ext cx="209550" cy="238125"/>
                </a:xfrm>
                <a:prstGeom prst="ellipse">
                  <a:avLst/>
                </a:prstGeom>
                <a:solidFill>
                  <a:srgbClr val="0070C0"/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3950320" y="3243853"/>
                  <a:ext cx="1284288" cy="1328737"/>
                </a:xfrm>
                <a:prstGeom prst="ellipse">
                  <a:avLst/>
                </a:prstGeom>
                <a:solidFill>
                  <a:srgbClr val="FFC000"/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6565901" y="3703224"/>
                  <a:ext cx="1282700" cy="1328737"/>
                </a:xfrm>
                <a:prstGeom prst="ellipse">
                  <a:avLst/>
                </a:prstGeom>
                <a:solidFill>
                  <a:srgbClr val="0070C0"/>
                </a:solidFill>
                <a:ln w="25400" cap="flat" cmpd="sng" algn="ctr">
                  <a:noFill/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3105774" y="-188585"/>
                  <a:ext cx="2629831" cy="2366569"/>
                </a:xfrm>
                <a:prstGeom prst="rect">
                  <a:avLst/>
                </a:prstGeom>
                <a:noFill/>
              </p:spPr>
              <p:txBody>
                <a:bodyPr lIns="83247" tIns="41623" rIns="83247" bIns="41623">
                  <a:spAutoFit/>
                </a:bodyPr>
                <a:lstStyle/>
                <a:p>
                  <a:pPr>
                    <a:defRPr/>
                  </a:pPr>
                  <a:r>
                    <a:rPr lang="id-ID" sz="11500" b="1" kern="0" dirty="0">
                      <a:solidFill>
                        <a:srgbClr val="002060"/>
                      </a:solidFill>
                      <a:effectLst>
                        <a:reflection blurRad="6350" stA="60000" endA="900" endPos="58000" dir="5400000" sy="-100000" algn="bl" rotWithShape="0"/>
                      </a:effectLst>
                      <a:latin typeface="Aharoni" panose="02010803020104030203" pitchFamily="2" charset="-79"/>
                      <a:cs typeface="Aharoni" panose="02010803020104030203" pitchFamily="2" charset="-79"/>
                    </a:rPr>
                    <a:t>7</a:t>
                  </a:r>
                  <a:r>
                    <a:rPr lang="id-ID" sz="6000" b="1" kern="0" dirty="0">
                      <a:solidFill>
                        <a:srgbClr val="002060"/>
                      </a:solidFill>
                      <a:effectLst>
                        <a:reflection blurRad="6350" stA="60000" endA="900" endPos="58000" dir="5400000" sy="-100000" algn="bl" rotWithShape="0"/>
                      </a:effectLst>
                      <a:latin typeface="Aharoni" panose="02010803020104030203" pitchFamily="2" charset="-79"/>
                      <a:cs typeface="Aharoni" panose="02010803020104030203" pitchFamily="2" charset="-79"/>
                    </a:rPr>
                    <a:t>UPs</a:t>
                  </a:r>
                  <a:endParaRPr lang="en-US" sz="6000" b="1" kern="0" dirty="0">
                    <a:solidFill>
                      <a:srgbClr val="002060"/>
                    </a:solidFill>
                    <a:effectLst>
                      <a:reflection blurRad="6350" stA="60000" endA="900" endPos="58000" dir="5400000" sy="-100000" algn="bl" rotWithShape="0"/>
                    </a:effectLst>
                    <a:latin typeface="Aharoni" panose="02010803020104030203" pitchFamily="2" charset="-79"/>
                    <a:cs typeface="Aharoni" panose="02010803020104030203" pitchFamily="2" charset="-79"/>
                  </a:endParaRP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5119874" y="188640"/>
                  <a:ext cx="1231462" cy="1069952"/>
                </a:xfrm>
                <a:prstGeom prst="rect">
                  <a:avLst/>
                </a:prstGeom>
                <a:noFill/>
              </p:spPr>
              <p:txBody>
                <a:bodyPr wrap="square" lIns="83247" tIns="41623" rIns="83247" bIns="41623">
                  <a:spAutoFit/>
                </a:bodyPr>
                <a:lstStyle/>
                <a:p>
                  <a:pPr>
                    <a:defRPr/>
                  </a:pPr>
                  <a:r>
                    <a:rPr lang="id-ID" sz="4900" b="1" kern="0" dirty="0">
                      <a:solidFill>
                        <a:schemeClr val="accent3">
                          <a:lumMod val="75000"/>
                        </a:schemeClr>
                      </a:solidFill>
                      <a:effectLst>
                        <a:reflection blurRad="6350" stA="60000" endA="900" endPos="58000" dir="5400000" sy="-100000" algn="bl" rotWithShape="0"/>
                      </a:effectLst>
                      <a:latin typeface="Berlin Sans FB Demi" panose="020E0802020502020306" pitchFamily="34" charset="0"/>
                      <a:cs typeface="Aharoni" panose="02010803020104030203" pitchFamily="2" charset="-79"/>
                    </a:rPr>
                    <a:t>++</a:t>
                  </a:r>
                  <a:endParaRPr lang="en-US" sz="4900" b="1" kern="0" dirty="0">
                    <a:solidFill>
                      <a:schemeClr val="accent3">
                        <a:lumMod val="75000"/>
                      </a:schemeClr>
                    </a:solidFill>
                    <a:effectLst>
                      <a:reflection blurRad="6350" stA="60000" endA="900" endPos="58000" dir="5400000" sy="-100000" algn="bl" rotWithShape="0"/>
                    </a:effectLst>
                    <a:latin typeface="Berlin Sans FB Demi" panose="020E0802020502020306" pitchFamily="34" charset="0"/>
                    <a:cs typeface="Aharoni" panose="02010803020104030203" pitchFamily="2" charset="-79"/>
                  </a:endParaRPr>
                </a:p>
              </p:txBody>
            </p:sp>
            <p:grpSp>
              <p:nvGrpSpPr>
                <p:cNvPr id="35" name="Group 1"/>
                <p:cNvGrpSpPr/>
                <p:nvPr/>
              </p:nvGrpSpPr>
              <p:grpSpPr bwMode="auto">
                <a:xfrm>
                  <a:off x="1393445" y="3786028"/>
                  <a:ext cx="1284287" cy="1554353"/>
                  <a:chOff x="1393728" y="3785358"/>
                  <a:chExt cx="1284287" cy="1555417"/>
                </a:xfrm>
              </p:grpSpPr>
              <p:sp>
                <p:nvSpPr>
                  <p:cNvPr id="40" name="Oval 39"/>
                  <p:cNvSpPr/>
                  <p:nvPr/>
                </p:nvSpPr>
                <p:spPr>
                  <a:xfrm>
                    <a:off x="1393728" y="3785358"/>
                    <a:ext cx="1284287" cy="1328060"/>
                  </a:xfrm>
                  <a:prstGeom prst="ellipse">
                    <a:avLst/>
                  </a:prstGeom>
                  <a:solidFill>
                    <a:srgbClr val="00B050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lIns="83238" tIns="41619" rIns="83238" bIns="41619" anchor="ctr"/>
                  <a:lstStyle/>
                  <a:p>
                    <a:pPr algn="ctr">
                      <a:defRPr/>
                    </a:pPr>
                    <a:endParaRPr lang="en-US" kern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41" name="Oval 40"/>
                  <p:cNvSpPr/>
                  <p:nvPr/>
                </p:nvSpPr>
                <p:spPr>
                  <a:xfrm>
                    <a:off x="1875119" y="4879003"/>
                    <a:ext cx="338138" cy="362199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25400" cap="flat" cmpd="sng" algn="ctr">
                    <a:solidFill>
                      <a:sysClr val="window" lastClr="FFFFFF"/>
                    </a:solidFill>
                    <a:prstDash val="solid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lIns="83238" tIns="41619" rIns="83238" bIns="41619" anchor="ctr"/>
                  <a:lstStyle/>
                  <a:p>
                    <a:pPr algn="ctr">
                      <a:defRPr/>
                    </a:pPr>
                    <a:endParaRPr lang="en-US" kern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42" name="Rectangle 7"/>
                  <p:cNvSpPr txBox="1">
                    <a:spLocks noChangeArrowheads="1"/>
                  </p:cNvSpPr>
                  <p:nvPr>
                    <p:custDataLst>
                      <p:tags r:id="rId3"/>
                    </p:custDataLst>
                  </p:nvPr>
                </p:nvSpPr>
                <p:spPr>
                  <a:xfrm>
                    <a:off x="1888710" y="4789534"/>
                    <a:ext cx="420688" cy="551241"/>
                  </a:xfrm>
                  <a:prstGeom prst="rect">
                    <a:avLst/>
                  </a:prstGeom>
                </p:spPr>
                <p:txBody>
                  <a:bodyPr lIns="88464" tIns="44230" rIns="88464" bIns="44230" anchor="ctr">
                    <a:normAutofit/>
                  </a:bodyPr>
                  <a:lstStyle/>
                  <a:p>
                    <a:pPr defTabSz="884555">
                      <a:spcBef>
                        <a:spcPct val="0"/>
                      </a:spcBef>
                      <a:defRPr/>
                    </a:pPr>
                    <a:r>
                      <a:rPr lang="en-US" sz="1600" b="1" kern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</a:p>
                </p:txBody>
              </p:sp>
            </p:grpSp>
            <p:sp>
              <p:nvSpPr>
                <p:cNvPr id="36" name="Oval 35"/>
                <p:cNvSpPr/>
                <p:nvPr/>
              </p:nvSpPr>
              <p:spPr>
                <a:xfrm>
                  <a:off x="4415156" y="4367593"/>
                  <a:ext cx="338138" cy="36195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ysClr val="window" lastClr="FFFFFF"/>
                  </a:solidFill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7" name="Rectangle 7"/>
                <p:cNvSpPr txBox="1">
                  <a:spLocks noChangeArrowheads="1"/>
                </p:cNvSpPr>
                <p:nvPr>
                  <p:custDataLst>
                    <p:tags r:id="rId1"/>
                  </p:custDataLst>
                </p:nvPr>
              </p:nvSpPr>
              <p:spPr>
                <a:xfrm>
                  <a:off x="4405313" y="4276725"/>
                  <a:ext cx="419100" cy="552450"/>
                </a:xfrm>
                <a:prstGeom prst="rect">
                  <a:avLst/>
                </a:prstGeom>
              </p:spPr>
              <p:txBody>
                <a:bodyPr lIns="88464" tIns="44230" rIns="88464" bIns="44230" anchor="ctr">
                  <a:normAutofit/>
                </a:bodyPr>
                <a:lstStyle/>
                <a:p>
                  <a:pPr defTabSz="884555">
                    <a:spcBef>
                      <a:spcPct val="0"/>
                    </a:spcBef>
                    <a:defRPr/>
                  </a:pPr>
                  <a:r>
                    <a:rPr lang="en-US" sz="1600" b="1" kern="0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38" name="Oval 37"/>
                <p:cNvSpPr/>
                <p:nvPr/>
              </p:nvSpPr>
              <p:spPr>
                <a:xfrm>
                  <a:off x="6997701" y="4841875"/>
                  <a:ext cx="336550" cy="36195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ysClr val="window" lastClr="FFFFFF"/>
                  </a:solidFill>
                  <a:prstDash val="soli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83238" tIns="41619" rIns="83238" bIns="41619" anchor="ctr"/>
                <a:lstStyle/>
                <a:p>
                  <a:pPr algn="ctr">
                    <a:defRPr/>
                  </a:pPr>
                  <a:endParaRPr lang="en-US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9" name="Rectangle 7"/>
                <p:cNvSpPr txBox="1">
                  <a:spLocks noChangeArrowheads="1"/>
                </p:cNvSpPr>
                <p:nvPr>
                  <p:custDataLst>
                    <p:tags r:id="rId2"/>
                  </p:custDataLst>
                </p:nvPr>
              </p:nvSpPr>
              <p:spPr>
                <a:xfrm>
                  <a:off x="6997701" y="4746625"/>
                  <a:ext cx="419100" cy="552450"/>
                </a:xfrm>
                <a:prstGeom prst="rect">
                  <a:avLst/>
                </a:prstGeom>
              </p:spPr>
              <p:txBody>
                <a:bodyPr lIns="88464" tIns="44230" rIns="88464" bIns="44230" anchor="ctr">
                  <a:normAutofit/>
                </a:bodyPr>
                <a:lstStyle/>
                <a:p>
                  <a:pPr defTabSz="884555">
                    <a:spcBef>
                      <a:spcPct val="0"/>
                    </a:spcBef>
                    <a:defRPr/>
                  </a:pPr>
                  <a:r>
                    <a:rPr lang="en-US" sz="1600" b="1" kern="0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</p:grpSp>
          <p:sp>
            <p:nvSpPr>
              <p:cNvPr id="6" name="TextBox 86"/>
              <p:cNvSpPr txBox="1">
                <a:spLocks noChangeArrowheads="1"/>
              </p:cNvSpPr>
              <p:nvPr/>
            </p:nvSpPr>
            <p:spPr bwMode="auto">
              <a:xfrm>
                <a:off x="6704331" y="3971449"/>
                <a:ext cx="1519350" cy="7359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83238" tIns="41619" rIns="83238" bIns="41619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sz="32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</a:t>
                </a:r>
                <a:r>
                  <a:rPr lang="en-US" sz="2200" b="1" dirty="0">
                    <a:solidFill>
                      <a:schemeClr val="bg1"/>
                    </a:solidFill>
                  </a:rPr>
                  <a:t>ASIL</a:t>
                </a:r>
              </a:p>
            </p:txBody>
          </p:sp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3957321" y="3437072"/>
                <a:ext cx="1386860" cy="7359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83238" tIns="41619" rIns="83238" bIns="41619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sz="3200" b="1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</a:t>
                </a:r>
                <a:r>
                  <a:rPr lang="en-US" sz="2200" b="1" dirty="0">
                    <a:solidFill>
                      <a:schemeClr val="bg1"/>
                    </a:solidFill>
                  </a:rPr>
                  <a:t>OLUSI</a:t>
                </a:r>
              </a:p>
            </p:txBody>
          </p:sp>
          <p:sp>
            <p:nvSpPr>
              <p:cNvPr id="8" name="TextBox 7"/>
              <p:cNvSpPr txBox="1">
                <a:spLocks noChangeArrowheads="1"/>
              </p:cNvSpPr>
              <p:nvPr/>
            </p:nvSpPr>
            <p:spPr bwMode="auto">
              <a:xfrm>
                <a:off x="1393445" y="4201275"/>
                <a:ext cx="1573306" cy="500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83238" tIns="41619" rIns="83238" bIns="41619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sz="2000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</a:t>
                </a:r>
                <a:r>
                  <a:rPr lang="en-US" sz="2000" b="1" dirty="0">
                    <a:solidFill>
                      <a:schemeClr val="bg1"/>
                    </a:solidFill>
                  </a:rPr>
                  <a:t>NALISA</a:t>
                </a:r>
              </a:p>
            </p:txBody>
          </p:sp>
        </p:grpSp>
        <p:sp>
          <p:nvSpPr>
            <p:cNvPr id="2" name="TextBox 19"/>
            <p:cNvSpPr txBox="1"/>
            <p:nvPr/>
          </p:nvSpPr>
          <p:spPr>
            <a:xfrm>
              <a:off x="10347" y="8281"/>
              <a:ext cx="3279" cy="445"/>
            </a:xfrm>
            <a:prstGeom prst="rect">
              <a:avLst/>
            </a:prstGeom>
            <a:noFill/>
          </p:spPr>
          <p:txBody>
            <a:bodyPr wrap="square" lIns="83238" tIns="41619" rIns="83238" bIns="41619">
              <a:spAutoFit/>
            </a:bodyPr>
            <a:lstStyle/>
            <a:p>
              <a:pPr>
                <a:defRPr/>
              </a:pPr>
              <a:r>
                <a:rPr lang="id-ID" altLang="en-US" sz="1300" b="1" i="1" kern="0" dirty="0">
                  <a:cs typeface="Arial" panose="020B0604020202020204" pitchFamily="34" charset="0"/>
                </a:rPr>
                <a:t>7</a:t>
              </a:r>
              <a:r>
                <a:rPr lang="en-US" sz="1300" b="1" i="1" kern="0" dirty="0">
                  <a:cs typeface="Arial" panose="020B0604020202020204" pitchFamily="34" charset="0"/>
                </a:rPr>
                <a:t>. </a:t>
              </a:r>
              <a:r>
                <a:rPr lang="id-ID" altLang="en-US" sz="1300" b="1" i="1" kern="0" dirty="0">
                  <a:cs typeface="Arial" panose="020B0604020202020204" pitchFamily="34" charset="0"/>
                </a:rPr>
                <a:t>Review</a:t>
              </a:r>
            </a:p>
          </p:txBody>
        </p:sp>
        <p:sp>
          <p:nvSpPr>
            <p:cNvPr id="3" name="TextBox 19"/>
            <p:cNvSpPr txBox="1"/>
            <p:nvPr/>
          </p:nvSpPr>
          <p:spPr>
            <a:xfrm>
              <a:off x="13301" y="5580"/>
              <a:ext cx="3279" cy="445"/>
            </a:xfrm>
            <a:prstGeom prst="rect">
              <a:avLst/>
            </a:prstGeom>
            <a:noFill/>
          </p:spPr>
          <p:txBody>
            <a:bodyPr wrap="square" lIns="83238" tIns="41619" rIns="83238" bIns="41619">
              <a:spAutoFit/>
            </a:bodyPr>
            <a:lstStyle/>
            <a:p>
              <a:pPr>
                <a:defRPr/>
              </a:pPr>
              <a:r>
                <a:rPr lang="id-ID" altLang="en-US" sz="1300" b="1" i="1" kern="0" dirty="0">
                  <a:cs typeface="Arial" panose="020B0604020202020204" pitchFamily="34" charset="0"/>
                </a:rPr>
                <a:t>8</a:t>
              </a:r>
              <a:r>
                <a:rPr lang="en-US" sz="1300" b="1" i="1" kern="0" dirty="0">
                  <a:cs typeface="Arial" panose="020B0604020202020204" pitchFamily="34" charset="0"/>
                </a:rPr>
                <a:t>. </a:t>
              </a:r>
              <a:r>
                <a:rPr lang="id-ID" altLang="en-US" sz="1300" b="1" i="1" kern="0" dirty="0">
                  <a:cs typeface="Arial" panose="020B0604020202020204" pitchFamily="34" charset="0"/>
                </a:rPr>
                <a:t>Standarisasi</a:t>
              </a:r>
              <a:r>
                <a:rPr lang="en-US" sz="1300" b="1" i="1" kern="0" dirty="0">
                  <a:cs typeface="Arial" panose="020B0604020202020204" pitchFamily="34" charset="0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425" y="238760"/>
            <a:ext cx="4676775" cy="868045"/>
          </a:xfrm>
        </p:spPr>
        <p:txBody>
          <a:bodyPr>
            <a:normAutofit/>
          </a:bodyPr>
          <a:lstStyle/>
          <a:p>
            <a:pPr algn="ctr"/>
            <a:r>
              <a:rPr lang="id-ID" sz="3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Pemetaan</a:t>
            </a:r>
            <a:endParaRPr lang="en-US" sz="3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1875529" y="1524000"/>
            <a:ext cx="852487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Tulis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id-ID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Latar belakang dari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proyek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anda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atau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id-ID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jika proyek ini merupakan turunan dari sebuah grand strategy cabang untuk customer, gambarkan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Strategy Canvas </a:t>
            </a:r>
            <a:r>
              <a:rPr lang="id-ID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atas grand strategy tersebut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6" name="Text Box 30"/>
          <p:cNvSpPr txBox="1">
            <a:spLocks noChangeArrowheads="1"/>
          </p:cNvSpPr>
          <p:nvPr/>
        </p:nvSpPr>
        <p:spPr bwMode="auto">
          <a:xfrm>
            <a:off x="1981201" y="5294105"/>
            <a:ext cx="8558213" cy="277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Gambarkan 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id-ID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asalah utama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dengan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data-data yang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dapat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diukur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tabel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/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grafik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78559" y="2112963"/>
            <a:ext cx="8424862" cy="1353215"/>
          </a:xfrm>
          <a:prstGeom prst="rect">
            <a:avLst/>
          </a:prstGeom>
          <a:solidFill>
            <a:schemeClr val="bg1">
              <a:lumMod val="75000"/>
              <a:alpha val="41000"/>
            </a:schemeClr>
          </a:solidFill>
          <a:ln w="9525">
            <a:solidFill>
              <a:schemeClr val="accent2">
                <a:lumMod val="20000"/>
                <a:lumOff val="80000"/>
              </a:schemeClr>
            </a:solidFill>
            <a:miter lim="800000"/>
          </a:ln>
        </p:spPr>
        <p:txBody>
          <a:bodyPr/>
          <a:lstStyle/>
          <a:p>
            <a:pPr algn="just"/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 Mitra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Bakti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 (MBUT)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mining, retail, hospital, dan renewable energy.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Customer Care dan Customer Handling,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penanganan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seragam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cabang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terintegrasi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komplain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kehadiran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manpower, data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real-time.</a:t>
            </a:r>
          </a:p>
          <a:p>
            <a:pPr algn="just"/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Selain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membutuhkan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transparansi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media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tunggal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Ketiadaan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terpusat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menyebabkan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pengaduan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tersebar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(WhatsApp, email,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telepon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terdokumentasi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sulit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dievaluasi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82775" y="1219200"/>
            <a:ext cx="2809875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Latar</a:t>
            </a:r>
            <a:r>
              <a:rPr lang="en-US" sz="1400" b="1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Belakang</a:t>
            </a:r>
            <a:r>
              <a:rPr lang="en-US" sz="1400" b="1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</p:txBody>
      </p:sp>
      <p:sp>
        <p:nvSpPr>
          <p:cNvPr id="9" name="Text Box 29"/>
          <p:cNvSpPr txBox="1">
            <a:spLocks noChangeArrowheads="1"/>
          </p:cNvSpPr>
          <p:nvPr/>
        </p:nvSpPr>
        <p:spPr bwMode="auto">
          <a:xfrm>
            <a:off x="1975542" y="4989304"/>
            <a:ext cx="2879725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sz="1400" b="1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Pendukung</a:t>
            </a:r>
            <a:r>
              <a:rPr lang="en-US" sz="1400" b="1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75875" y="5414727"/>
            <a:ext cx="2016125" cy="144327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2"/>
            </a:solidFill>
            <a:miter lim="800000"/>
          </a:ln>
        </p:spPr>
        <p:txBody>
          <a:bodyPr anchor="b"/>
          <a:lstStyle/>
          <a:p>
            <a:pPr algn="r">
              <a:defRPr/>
            </a:pPr>
            <a:r>
              <a:rPr lang="id-ID" sz="1200"/>
              <a:t>Gambar Bagan/Skema/Denah </a:t>
            </a:r>
          </a:p>
          <a:p>
            <a:pPr algn="r">
              <a:defRPr/>
            </a:pPr>
            <a:r>
              <a:rPr lang="id-ID" sz="1200"/>
              <a:t>jika diperlukan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1944688" y="3675049"/>
            <a:ext cx="8523287" cy="277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Tulis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id-ID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masalah utama yang sedang dihadapi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944688" y="3441492"/>
            <a:ext cx="2808287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id-ID" sz="1400" b="1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Masalah Utama</a:t>
            </a:r>
            <a:r>
              <a:rPr lang="en-US" sz="1400" b="1" kern="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: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043113" y="3998705"/>
            <a:ext cx="8424862" cy="706437"/>
          </a:xfrm>
          <a:prstGeom prst="rect">
            <a:avLst/>
          </a:prstGeom>
          <a:solidFill>
            <a:schemeClr val="bg1">
              <a:lumMod val="75000"/>
              <a:alpha val="41000"/>
            </a:schemeClr>
          </a:solidFill>
          <a:ln w="9525">
            <a:solidFill>
              <a:schemeClr val="accent2">
                <a:lumMod val="20000"/>
                <a:lumOff val="80000"/>
              </a:schemeClr>
            </a:solidFill>
            <a:miter lim="800000"/>
          </a:ln>
        </p:spPr>
        <p:txBody>
          <a:bodyPr/>
          <a:lstStyle/>
          <a:p>
            <a:pPr algn="just"/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terintegrasi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pengaduan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menyebabkan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rendahnya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kepuasan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2043114" y="5562601"/>
            <a:ext cx="8132761" cy="706437"/>
          </a:xfrm>
          <a:prstGeom prst="rect">
            <a:avLst/>
          </a:prstGeom>
          <a:solidFill>
            <a:schemeClr val="bg1">
              <a:lumMod val="75000"/>
              <a:alpha val="41000"/>
            </a:schemeClr>
          </a:solidFill>
          <a:ln w="9525">
            <a:solidFill>
              <a:schemeClr val="accent2">
                <a:lumMod val="20000"/>
                <a:lumOff val="80000"/>
              </a:schemeClr>
            </a:solidFill>
            <a:miter lim="800000"/>
          </a:ln>
        </p:spPr>
        <p:txBody>
          <a:bodyPr/>
          <a:lstStyle/>
          <a:p>
            <a:pPr marL="342900" indent="-342900"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Belum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digital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tagihan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AR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monitoring complain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time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999103" y="3896348"/>
            <a:ext cx="8424862" cy="8550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</p:spPr>
        <p:txBody>
          <a:bodyPr/>
          <a:lstStyle/>
          <a:p>
            <a:pPr marL="228600" indent="-2286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complain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rata-rata &gt;24 jam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&lt;6 jam pada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ke-3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complain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tepat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&gt;90%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CSI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baseline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&gt;85%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Mengkonsolidasikan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pengaduan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HaloMitra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672157" y="525243"/>
            <a:ext cx="8183563" cy="71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id-ID" b="1" dirty="0"/>
              <a:t>2. Penentuan Target</a:t>
            </a:r>
          </a:p>
        </p:txBody>
      </p:sp>
      <p:sp>
        <p:nvSpPr>
          <p:cNvPr id="5" name="Text Box 26"/>
          <p:cNvSpPr txBox="1">
            <a:spLocks noChangeArrowheads="1"/>
          </p:cNvSpPr>
          <p:nvPr/>
        </p:nvSpPr>
        <p:spPr bwMode="auto">
          <a:xfrm>
            <a:off x="1920875" y="2016350"/>
            <a:ext cx="8294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200" dirty="0" err="1"/>
              <a:t>Tulis</a:t>
            </a:r>
            <a:r>
              <a:rPr lang="en-US" sz="1200" dirty="0"/>
              <a:t> value yang </a:t>
            </a:r>
            <a:r>
              <a:rPr lang="en-US" sz="1200" dirty="0" err="1"/>
              <a:t>akan</a:t>
            </a:r>
            <a:r>
              <a:rPr lang="en-US" sz="1200" dirty="0"/>
              <a:t> </a:t>
            </a:r>
            <a:r>
              <a:rPr lang="id-ID" sz="1200" dirty="0"/>
              <a:t>diperbaiki</a:t>
            </a:r>
            <a:endParaRPr lang="en-US" sz="1200" dirty="0"/>
          </a:p>
        </p:txBody>
      </p: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1920876" y="5314630"/>
            <a:ext cx="82946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200" dirty="0" err="1"/>
              <a:t>Tulis</a:t>
            </a:r>
            <a:r>
              <a:rPr lang="en-US" sz="1200" dirty="0"/>
              <a:t> </a:t>
            </a:r>
            <a:r>
              <a:rPr lang="en-US" sz="1200" dirty="0" err="1"/>
              <a:t>tema</a:t>
            </a:r>
            <a:r>
              <a:rPr lang="en-US" sz="1200" dirty="0"/>
              <a:t> /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id-ID" sz="1200" dirty="0"/>
              <a:t>dari proyek Operational Exellence</a:t>
            </a:r>
            <a:endParaRPr lang="en-US" sz="1200" dirty="0"/>
          </a:p>
        </p:txBody>
      </p:sp>
      <p:sp>
        <p:nvSpPr>
          <p:cNvPr id="7" name="Text Box 55"/>
          <p:cNvSpPr txBox="1">
            <a:spLocks noChangeArrowheads="1"/>
          </p:cNvSpPr>
          <p:nvPr/>
        </p:nvSpPr>
        <p:spPr bwMode="auto">
          <a:xfrm>
            <a:off x="1920875" y="3392712"/>
            <a:ext cx="8294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200" dirty="0" err="1"/>
              <a:t>Tentukan</a:t>
            </a:r>
            <a:r>
              <a:rPr lang="en-US" sz="1200" dirty="0"/>
              <a:t> target. Target </a:t>
            </a:r>
            <a:r>
              <a:rPr lang="en-US" sz="1200" dirty="0" err="1"/>
              <a:t>haruslah</a:t>
            </a:r>
            <a:r>
              <a:rPr lang="en-US" sz="1200" dirty="0"/>
              <a:t> SMART (Specific, Measurable, Achievable, Realistic &amp; Time Bond)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889126" y="1760762"/>
            <a:ext cx="4937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id-ID" sz="1400" b="1" dirty="0"/>
              <a:t>Value </a:t>
            </a:r>
            <a:r>
              <a:rPr lang="en-US" sz="1400" b="1" dirty="0"/>
              <a:t>to improve :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920876" y="4987399"/>
            <a:ext cx="203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400" b="1" dirty="0" err="1"/>
              <a:t>Tema</a:t>
            </a:r>
            <a:r>
              <a:rPr lang="en-US" sz="1400" b="1" dirty="0"/>
              <a:t> :</a:t>
            </a:r>
          </a:p>
        </p:txBody>
      </p:sp>
      <p:sp>
        <p:nvSpPr>
          <p:cNvPr id="13" name="Text Box 54"/>
          <p:cNvSpPr txBox="1">
            <a:spLocks noChangeArrowheads="1"/>
          </p:cNvSpPr>
          <p:nvPr/>
        </p:nvSpPr>
        <p:spPr bwMode="auto">
          <a:xfrm>
            <a:off x="1889125" y="3168198"/>
            <a:ext cx="2241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400" b="1" dirty="0"/>
              <a:t>Target :</a:t>
            </a:r>
          </a:p>
        </p:txBody>
      </p:sp>
      <p:sp>
        <p:nvSpPr>
          <p:cNvPr id="14" name="16-Point Star 13"/>
          <p:cNvSpPr/>
          <p:nvPr/>
        </p:nvSpPr>
        <p:spPr>
          <a:xfrm rot="20453980">
            <a:off x="10125333" y="4593502"/>
            <a:ext cx="1981200" cy="1981200"/>
          </a:xfrm>
          <a:prstGeom prst="star16">
            <a:avLst>
              <a:gd name="adj" fmla="val 4042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id-ID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</a:p>
          <a:p>
            <a:pPr algn="ctr">
              <a:defRPr/>
            </a:pPr>
            <a:r>
              <a:rPr lang="id-ID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Peningkatan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efektivitas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efisiensi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</a:t>
            </a:r>
          </a:p>
          <a:p>
            <a:pPr algn="ctr">
              <a:defRPr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defRPr/>
            </a:pP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digitalisasi</a:t>
            </a:r>
            <a:endParaRPr lang="id-ID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992313" y="2351312"/>
            <a:ext cx="8424862" cy="70643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</p:spPr>
        <p:txBody>
          <a:bodyPr/>
          <a:lstStyle/>
          <a:p>
            <a:pPr marL="228600" indent="-2286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penanganan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Transparansi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manpower</a:t>
            </a:r>
          </a:p>
          <a:p>
            <a:pPr marL="228600" indent="-228600"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complain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terukur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dievaluasi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992313" y="5759675"/>
            <a:ext cx="8447087" cy="70643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</p:spPr>
        <p:txBody>
          <a:bodyPr/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Digital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HaloMitra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Terobosan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Care PT Mitra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Bakti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32114" y="2290353"/>
            <a:ext cx="9729560" cy="3882844"/>
          </a:xfrm>
          <a:prstGeom prst="rect">
            <a:avLst/>
          </a:prstGeom>
          <a:solidFill>
            <a:schemeClr val="bg1">
              <a:lumMod val="6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pPr algn="ctr"/>
            <a:r>
              <a:rPr lang="id-ID" b="1" dirty="0"/>
              <a:t>3. Pencarian Akar Masalah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114" y="1475186"/>
            <a:ext cx="10871199" cy="9022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Tulis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masalah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id-ID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utama di bagian kepala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kemudia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definisikan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penyebabnya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untuk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masing2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aspek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(people, input,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methode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tools). </a:t>
            </a:r>
            <a:r>
              <a:rPr lang="id-ID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ertanya</a:t>
            </a:r>
            <a:r>
              <a:rPr lang="id-ID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lah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5x WHY</a:t>
            </a:r>
            <a:r>
              <a:rPr lang="id-ID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untuk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menemukan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akar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masalah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yang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sesungguhnya</a:t>
            </a:r>
            <a:r>
              <a:rPr lang="id-ID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(contoh: Penyebab P11111)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r>
              <a:rPr lang="id-ID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Seringkali akar masalahnya ternyata berbeda dengan aspek utamanya, lanjutkan saja.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38" name="Group 115"/>
          <p:cNvGrpSpPr/>
          <p:nvPr/>
        </p:nvGrpSpPr>
        <p:grpSpPr bwMode="auto">
          <a:xfrm>
            <a:off x="2209801" y="2590407"/>
            <a:ext cx="7620001" cy="3275013"/>
            <a:chOff x="730" y="1206"/>
            <a:chExt cx="4800" cy="2063"/>
          </a:xfrm>
        </p:grpSpPr>
        <p:sp>
          <p:nvSpPr>
            <p:cNvPr id="39" name="Text Box 64"/>
            <p:cNvSpPr txBox="1">
              <a:spLocks noChangeArrowheads="1"/>
            </p:cNvSpPr>
            <p:nvPr/>
          </p:nvSpPr>
          <p:spPr bwMode="auto">
            <a:xfrm flipH="1">
              <a:off x="2017" y="1350"/>
              <a:ext cx="583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P11</a:t>
              </a:r>
            </a:p>
          </p:txBody>
        </p:sp>
        <p:sp>
          <p:nvSpPr>
            <p:cNvPr id="40" name="Text Box 68"/>
            <p:cNvSpPr txBox="1">
              <a:spLocks noChangeArrowheads="1"/>
            </p:cNvSpPr>
            <p:nvPr/>
          </p:nvSpPr>
          <p:spPr bwMode="auto">
            <a:xfrm flipH="1">
              <a:off x="1408" y="1206"/>
              <a:ext cx="666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P1111</a:t>
              </a:r>
            </a:p>
          </p:txBody>
        </p:sp>
        <p:sp>
          <p:nvSpPr>
            <p:cNvPr id="41" name="Text Box 69"/>
            <p:cNvSpPr txBox="1">
              <a:spLocks noChangeArrowheads="1"/>
            </p:cNvSpPr>
            <p:nvPr/>
          </p:nvSpPr>
          <p:spPr bwMode="auto">
            <a:xfrm flipH="1">
              <a:off x="978" y="1597"/>
              <a:ext cx="624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P111</a:t>
              </a:r>
            </a:p>
          </p:txBody>
        </p:sp>
        <p:sp>
          <p:nvSpPr>
            <p:cNvPr id="42" name="Text Box 70"/>
            <p:cNvSpPr txBox="1">
              <a:spLocks noChangeArrowheads="1"/>
            </p:cNvSpPr>
            <p:nvPr/>
          </p:nvSpPr>
          <p:spPr bwMode="auto">
            <a:xfrm flipH="1">
              <a:off x="942" y="1849"/>
              <a:ext cx="541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P1</a:t>
              </a:r>
            </a:p>
          </p:txBody>
        </p:sp>
        <p:sp>
          <p:nvSpPr>
            <p:cNvPr id="43" name="Text Box 72"/>
            <p:cNvSpPr txBox="1">
              <a:spLocks noChangeArrowheads="1"/>
            </p:cNvSpPr>
            <p:nvPr/>
          </p:nvSpPr>
          <p:spPr bwMode="auto">
            <a:xfrm flipH="1">
              <a:off x="3024" y="1582"/>
              <a:ext cx="541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P2</a:t>
              </a:r>
            </a:p>
          </p:txBody>
        </p:sp>
        <p:sp>
          <p:nvSpPr>
            <p:cNvPr id="44" name="Text Box 74"/>
            <p:cNvSpPr txBox="1">
              <a:spLocks noChangeArrowheads="1"/>
            </p:cNvSpPr>
            <p:nvPr/>
          </p:nvSpPr>
          <p:spPr bwMode="auto">
            <a:xfrm flipH="1">
              <a:off x="2382" y="1903"/>
              <a:ext cx="583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P21</a:t>
              </a:r>
            </a:p>
          </p:txBody>
        </p:sp>
        <p:sp>
          <p:nvSpPr>
            <p:cNvPr id="45" name="Text Box 76"/>
            <p:cNvSpPr txBox="1">
              <a:spLocks noChangeArrowheads="1"/>
            </p:cNvSpPr>
            <p:nvPr/>
          </p:nvSpPr>
          <p:spPr bwMode="auto">
            <a:xfrm flipH="1">
              <a:off x="3689" y="1496"/>
              <a:ext cx="562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I21</a:t>
              </a:r>
            </a:p>
          </p:txBody>
        </p:sp>
        <p:sp>
          <p:nvSpPr>
            <p:cNvPr id="46" name="Text Box 78"/>
            <p:cNvSpPr txBox="1">
              <a:spLocks noChangeArrowheads="1"/>
            </p:cNvSpPr>
            <p:nvPr/>
          </p:nvSpPr>
          <p:spPr bwMode="auto">
            <a:xfrm flipH="1">
              <a:off x="3294" y="1824"/>
              <a:ext cx="520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I2</a:t>
              </a:r>
            </a:p>
          </p:txBody>
        </p:sp>
        <p:sp>
          <p:nvSpPr>
            <p:cNvPr id="47" name="Text Box 80"/>
            <p:cNvSpPr txBox="1">
              <a:spLocks noChangeArrowheads="1"/>
            </p:cNvSpPr>
            <p:nvPr/>
          </p:nvSpPr>
          <p:spPr bwMode="auto">
            <a:xfrm flipH="1">
              <a:off x="5010" y="1291"/>
              <a:ext cx="520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I1</a:t>
              </a:r>
            </a:p>
          </p:txBody>
        </p:sp>
        <p:sp>
          <p:nvSpPr>
            <p:cNvPr id="48" name="Text Box 82"/>
            <p:cNvSpPr txBox="1">
              <a:spLocks noChangeArrowheads="1"/>
            </p:cNvSpPr>
            <p:nvPr/>
          </p:nvSpPr>
          <p:spPr bwMode="auto">
            <a:xfrm flipH="1">
              <a:off x="4420" y="1675"/>
              <a:ext cx="562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I12</a:t>
              </a:r>
            </a:p>
          </p:txBody>
        </p:sp>
        <p:sp>
          <p:nvSpPr>
            <p:cNvPr id="49" name="Text Box 84"/>
            <p:cNvSpPr txBox="1">
              <a:spLocks noChangeArrowheads="1"/>
            </p:cNvSpPr>
            <p:nvPr/>
          </p:nvSpPr>
          <p:spPr bwMode="auto">
            <a:xfrm flipH="1">
              <a:off x="2710" y="2652"/>
              <a:ext cx="569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M2</a:t>
              </a:r>
            </a:p>
          </p:txBody>
        </p:sp>
        <p:sp>
          <p:nvSpPr>
            <p:cNvPr id="50" name="Text Box 86"/>
            <p:cNvSpPr txBox="1">
              <a:spLocks noChangeArrowheads="1"/>
            </p:cNvSpPr>
            <p:nvPr/>
          </p:nvSpPr>
          <p:spPr bwMode="auto">
            <a:xfrm flipH="1">
              <a:off x="2457" y="2982"/>
              <a:ext cx="610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M21</a:t>
              </a:r>
            </a:p>
          </p:txBody>
        </p:sp>
        <p:sp>
          <p:nvSpPr>
            <p:cNvPr id="51" name="Text Box 88"/>
            <p:cNvSpPr txBox="1">
              <a:spLocks noChangeArrowheads="1"/>
            </p:cNvSpPr>
            <p:nvPr/>
          </p:nvSpPr>
          <p:spPr bwMode="auto">
            <a:xfrm flipH="1">
              <a:off x="1033" y="2662"/>
              <a:ext cx="569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M1</a:t>
              </a:r>
            </a:p>
          </p:txBody>
        </p:sp>
        <p:sp>
          <p:nvSpPr>
            <p:cNvPr id="52" name="Text Box 90"/>
            <p:cNvSpPr txBox="1">
              <a:spLocks noChangeArrowheads="1"/>
            </p:cNvSpPr>
            <p:nvPr/>
          </p:nvSpPr>
          <p:spPr bwMode="auto">
            <a:xfrm flipH="1">
              <a:off x="1466" y="2993"/>
              <a:ext cx="610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M11</a:t>
              </a:r>
            </a:p>
          </p:txBody>
        </p:sp>
        <p:sp>
          <p:nvSpPr>
            <p:cNvPr id="53" name="Text Box 92"/>
            <p:cNvSpPr txBox="1">
              <a:spLocks noChangeArrowheads="1"/>
            </p:cNvSpPr>
            <p:nvPr/>
          </p:nvSpPr>
          <p:spPr bwMode="auto">
            <a:xfrm flipH="1">
              <a:off x="2074" y="2279"/>
              <a:ext cx="610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M22</a:t>
              </a:r>
            </a:p>
          </p:txBody>
        </p:sp>
        <p:sp>
          <p:nvSpPr>
            <p:cNvPr id="54" name="Text Box 96"/>
            <p:cNvSpPr txBox="1">
              <a:spLocks noChangeArrowheads="1"/>
            </p:cNvSpPr>
            <p:nvPr/>
          </p:nvSpPr>
          <p:spPr bwMode="auto">
            <a:xfrm flipH="1">
              <a:off x="4762" y="2934"/>
              <a:ext cx="539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T1</a:t>
              </a:r>
            </a:p>
          </p:txBody>
        </p:sp>
        <p:sp>
          <p:nvSpPr>
            <p:cNvPr id="55" name="Text Box 98"/>
            <p:cNvSpPr txBox="1">
              <a:spLocks noChangeArrowheads="1"/>
            </p:cNvSpPr>
            <p:nvPr/>
          </p:nvSpPr>
          <p:spPr bwMode="auto">
            <a:xfrm flipH="1">
              <a:off x="4077" y="2395"/>
              <a:ext cx="581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T11</a:t>
              </a:r>
            </a:p>
          </p:txBody>
        </p:sp>
        <p:sp>
          <p:nvSpPr>
            <p:cNvPr id="56" name="Text Box 100"/>
            <p:cNvSpPr txBox="1">
              <a:spLocks noChangeArrowheads="1"/>
            </p:cNvSpPr>
            <p:nvPr/>
          </p:nvSpPr>
          <p:spPr bwMode="auto">
            <a:xfrm flipH="1">
              <a:off x="4668" y="2550"/>
              <a:ext cx="622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T111</a:t>
              </a:r>
            </a:p>
          </p:txBody>
        </p:sp>
        <p:sp>
          <p:nvSpPr>
            <p:cNvPr id="57" name="Text Box 101"/>
            <p:cNvSpPr txBox="1">
              <a:spLocks noChangeArrowheads="1"/>
            </p:cNvSpPr>
            <p:nvPr/>
          </p:nvSpPr>
          <p:spPr bwMode="auto">
            <a:xfrm flipH="1">
              <a:off x="3599" y="3114"/>
              <a:ext cx="539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T2</a:t>
              </a:r>
            </a:p>
          </p:txBody>
        </p:sp>
        <p:sp>
          <p:nvSpPr>
            <p:cNvPr id="58" name="Text Box 103"/>
            <p:cNvSpPr txBox="1">
              <a:spLocks noChangeArrowheads="1"/>
            </p:cNvSpPr>
            <p:nvPr/>
          </p:nvSpPr>
          <p:spPr bwMode="auto">
            <a:xfrm flipH="1">
              <a:off x="3275" y="2523"/>
              <a:ext cx="539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T3</a:t>
              </a:r>
            </a:p>
          </p:txBody>
        </p:sp>
        <p:sp>
          <p:nvSpPr>
            <p:cNvPr id="59" name="Text Box 106"/>
            <p:cNvSpPr txBox="1">
              <a:spLocks noChangeArrowheads="1"/>
            </p:cNvSpPr>
            <p:nvPr/>
          </p:nvSpPr>
          <p:spPr bwMode="auto">
            <a:xfrm flipH="1">
              <a:off x="4764" y="2743"/>
              <a:ext cx="622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T112</a:t>
              </a:r>
            </a:p>
          </p:txBody>
        </p:sp>
        <p:sp>
          <p:nvSpPr>
            <p:cNvPr id="60" name="Text Box 110"/>
            <p:cNvSpPr txBox="1">
              <a:spLocks noChangeArrowheads="1"/>
            </p:cNvSpPr>
            <p:nvPr/>
          </p:nvSpPr>
          <p:spPr bwMode="auto">
            <a:xfrm flipH="1">
              <a:off x="730" y="1371"/>
              <a:ext cx="707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P11111</a:t>
              </a:r>
            </a:p>
          </p:txBody>
        </p:sp>
        <p:sp>
          <p:nvSpPr>
            <p:cNvPr id="61" name="Text Box 111"/>
            <p:cNvSpPr txBox="1">
              <a:spLocks noChangeArrowheads="1"/>
            </p:cNvSpPr>
            <p:nvPr/>
          </p:nvSpPr>
          <p:spPr bwMode="auto">
            <a:xfrm flipH="1">
              <a:off x="1238" y="2279"/>
              <a:ext cx="610" cy="1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000" dirty="0" err="1"/>
                <a:t>Penyebab</a:t>
              </a:r>
              <a:r>
                <a:rPr lang="en-US" sz="1000" dirty="0"/>
                <a:t> M12</a:t>
              </a:r>
            </a:p>
          </p:txBody>
        </p:sp>
      </p:grpSp>
      <p:sp>
        <p:nvSpPr>
          <p:cNvPr id="62" name="Line 53"/>
          <p:cNvSpPr>
            <a:spLocks noChangeShapeType="1"/>
          </p:cNvSpPr>
          <p:nvPr/>
        </p:nvSpPr>
        <p:spPr bwMode="auto">
          <a:xfrm>
            <a:off x="1828800" y="3983656"/>
            <a:ext cx="7008316" cy="3890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109"/>
          <p:cNvSpPr>
            <a:spLocks noChangeShapeType="1"/>
          </p:cNvSpPr>
          <p:nvPr/>
        </p:nvSpPr>
        <p:spPr bwMode="auto">
          <a:xfrm>
            <a:off x="3371850" y="2983089"/>
            <a:ext cx="44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Line 108"/>
          <p:cNvSpPr>
            <a:spLocks noChangeShapeType="1"/>
          </p:cNvSpPr>
          <p:nvPr/>
        </p:nvSpPr>
        <p:spPr bwMode="auto">
          <a:xfrm flipH="1">
            <a:off x="3861830" y="2804450"/>
            <a:ext cx="261937" cy="481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109"/>
          <p:cNvSpPr>
            <a:spLocks noChangeShapeType="1"/>
          </p:cNvSpPr>
          <p:nvPr/>
        </p:nvSpPr>
        <p:spPr bwMode="auto">
          <a:xfrm>
            <a:off x="3664184" y="3334149"/>
            <a:ext cx="44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108"/>
          <p:cNvSpPr>
            <a:spLocks noChangeShapeType="1"/>
          </p:cNvSpPr>
          <p:nvPr/>
        </p:nvSpPr>
        <p:spPr bwMode="auto">
          <a:xfrm flipH="1">
            <a:off x="4304923" y="3093643"/>
            <a:ext cx="261937" cy="481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63"/>
          <p:cNvSpPr>
            <a:spLocks noChangeShapeType="1"/>
          </p:cNvSpPr>
          <p:nvPr/>
        </p:nvSpPr>
        <p:spPr bwMode="auto">
          <a:xfrm>
            <a:off x="3429278" y="3716854"/>
            <a:ext cx="12207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55"/>
          <p:cNvSpPr>
            <a:spLocks noChangeShapeType="1"/>
          </p:cNvSpPr>
          <p:nvPr/>
        </p:nvSpPr>
        <p:spPr bwMode="auto">
          <a:xfrm flipH="1">
            <a:off x="4648200" y="2362201"/>
            <a:ext cx="864394" cy="154701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71"/>
          <p:cNvSpPr>
            <a:spLocks noChangeShapeType="1"/>
          </p:cNvSpPr>
          <p:nvPr/>
        </p:nvSpPr>
        <p:spPr bwMode="auto">
          <a:xfrm>
            <a:off x="5183421" y="3290427"/>
            <a:ext cx="722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73"/>
          <p:cNvSpPr>
            <a:spLocks noChangeShapeType="1"/>
          </p:cNvSpPr>
          <p:nvPr/>
        </p:nvSpPr>
        <p:spPr bwMode="auto">
          <a:xfrm flipH="1">
            <a:off x="5315108" y="3414320"/>
            <a:ext cx="220663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75"/>
          <p:cNvSpPr>
            <a:spLocks noChangeShapeType="1"/>
          </p:cNvSpPr>
          <p:nvPr/>
        </p:nvSpPr>
        <p:spPr bwMode="auto">
          <a:xfrm>
            <a:off x="7158423" y="3694142"/>
            <a:ext cx="62706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Line 77"/>
          <p:cNvSpPr>
            <a:spLocks noChangeShapeType="1"/>
          </p:cNvSpPr>
          <p:nvPr/>
        </p:nvSpPr>
        <p:spPr bwMode="auto">
          <a:xfrm flipH="1">
            <a:off x="7252494" y="3287193"/>
            <a:ext cx="201612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55"/>
          <p:cNvSpPr>
            <a:spLocks noChangeShapeType="1"/>
          </p:cNvSpPr>
          <p:nvPr/>
        </p:nvSpPr>
        <p:spPr bwMode="auto">
          <a:xfrm flipH="1">
            <a:off x="7759084" y="2401098"/>
            <a:ext cx="864394" cy="154701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Text Box 59"/>
          <p:cNvSpPr txBox="1">
            <a:spLocks noChangeArrowheads="1"/>
          </p:cNvSpPr>
          <p:nvPr/>
        </p:nvSpPr>
        <p:spPr bwMode="auto">
          <a:xfrm flipH="1">
            <a:off x="5560233" y="2362201"/>
            <a:ext cx="8707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1400" dirty="0"/>
              <a:t>PEOPLE</a:t>
            </a:r>
          </a:p>
        </p:txBody>
      </p:sp>
      <p:sp>
        <p:nvSpPr>
          <p:cNvPr id="75" name="Text Box 59"/>
          <p:cNvSpPr txBox="1">
            <a:spLocks noChangeArrowheads="1"/>
          </p:cNvSpPr>
          <p:nvPr/>
        </p:nvSpPr>
        <p:spPr bwMode="auto">
          <a:xfrm flipH="1">
            <a:off x="8771334" y="2391891"/>
            <a:ext cx="7457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1400" dirty="0"/>
              <a:t>INPUT</a:t>
            </a:r>
          </a:p>
        </p:txBody>
      </p:sp>
      <p:sp>
        <p:nvSpPr>
          <p:cNvPr id="76" name="Line 79"/>
          <p:cNvSpPr>
            <a:spLocks noChangeShapeType="1"/>
          </p:cNvSpPr>
          <p:nvPr/>
        </p:nvSpPr>
        <p:spPr bwMode="auto">
          <a:xfrm>
            <a:off x="8435976" y="2856312"/>
            <a:ext cx="5556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81"/>
          <p:cNvSpPr>
            <a:spLocks noChangeShapeType="1"/>
          </p:cNvSpPr>
          <p:nvPr/>
        </p:nvSpPr>
        <p:spPr bwMode="auto">
          <a:xfrm flipH="1">
            <a:off x="8616950" y="2941638"/>
            <a:ext cx="222250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Oval 54"/>
          <p:cNvSpPr>
            <a:spLocks noChangeArrowheads="1"/>
          </p:cNvSpPr>
          <p:nvPr/>
        </p:nvSpPr>
        <p:spPr bwMode="auto">
          <a:xfrm>
            <a:off x="8955089" y="3734201"/>
            <a:ext cx="1386555" cy="618851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</a:rPr>
              <a:t>[</a:t>
            </a:r>
            <a:r>
              <a:rPr lang="en-US" sz="1200" dirty="0" err="1">
                <a:latin typeface="Verdana" panose="020B0604030504040204" pitchFamily="34" charset="0"/>
              </a:rPr>
              <a:t>Masalah</a:t>
            </a:r>
            <a:r>
              <a:rPr lang="en-US" sz="1200" dirty="0">
                <a:latin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</a:rPr>
              <a:t>Utama</a:t>
            </a:r>
            <a:r>
              <a:rPr lang="en-US" sz="1200" dirty="0">
                <a:latin typeface="Verdana" panose="020B0604030504040204" pitchFamily="34" charset="0"/>
              </a:rPr>
              <a:t>]</a:t>
            </a:r>
          </a:p>
        </p:txBody>
      </p:sp>
      <p:sp>
        <p:nvSpPr>
          <p:cNvPr id="79" name="Line 57"/>
          <p:cNvSpPr>
            <a:spLocks noChangeShapeType="1"/>
          </p:cNvSpPr>
          <p:nvPr/>
        </p:nvSpPr>
        <p:spPr bwMode="auto">
          <a:xfrm flipH="1" flipV="1">
            <a:off x="4011612" y="4076850"/>
            <a:ext cx="859724" cy="159489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Line 87"/>
          <p:cNvSpPr>
            <a:spLocks noChangeShapeType="1"/>
          </p:cNvSpPr>
          <p:nvPr/>
        </p:nvSpPr>
        <p:spPr bwMode="auto">
          <a:xfrm>
            <a:off x="3664185" y="5024838"/>
            <a:ext cx="792163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Line 93"/>
          <p:cNvSpPr>
            <a:spLocks noChangeShapeType="1"/>
          </p:cNvSpPr>
          <p:nvPr/>
        </p:nvSpPr>
        <p:spPr bwMode="auto">
          <a:xfrm>
            <a:off x="3886200" y="4543426"/>
            <a:ext cx="203200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89"/>
          <p:cNvSpPr>
            <a:spLocks noChangeShapeType="1"/>
          </p:cNvSpPr>
          <p:nvPr/>
        </p:nvSpPr>
        <p:spPr bwMode="auto">
          <a:xfrm>
            <a:off x="3922154" y="5060902"/>
            <a:ext cx="201613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Line 91"/>
          <p:cNvSpPr>
            <a:spLocks noChangeShapeType="1"/>
          </p:cNvSpPr>
          <p:nvPr/>
        </p:nvSpPr>
        <p:spPr bwMode="auto">
          <a:xfrm>
            <a:off x="5130800" y="4543426"/>
            <a:ext cx="203200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Line 83"/>
          <p:cNvSpPr>
            <a:spLocks noChangeShapeType="1"/>
          </p:cNvSpPr>
          <p:nvPr/>
        </p:nvSpPr>
        <p:spPr bwMode="auto">
          <a:xfrm>
            <a:off x="4712729" y="5026424"/>
            <a:ext cx="7223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89"/>
          <p:cNvSpPr>
            <a:spLocks noChangeShapeType="1"/>
          </p:cNvSpPr>
          <p:nvPr/>
        </p:nvSpPr>
        <p:spPr bwMode="auto">
          <a:xfrm>
            <a:off x="5130801" y="5077422"/>
            <a:ext cx="201613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Line 57"/>
          <p:cNvSpPr>
            <a:spLocks noChangeShapeType="1"/>
          </p:cNvSpPr>
          <p:nvPr/>
        </p:nvSpPr>
        <p:spPr bwMode="auto">
          <a:xfrm flipH="1" flipV="1">
            <a:off x="7192836" y="4167860"/>
            <a:ext cx="859724" cy="159489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Line 104"/>
          <p:cNvSpPr>
            <a:spLocks noChangeShapeType="1"/>
          </p:cNvSpPr>
          <p:nvPr/>
        </p:nvSpPr>
        <p:spPr bwMode="auto">
          <a:xfrm>
            <a:off x="7182502" y="4770516"/>
            <a:ext cx="2778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Line 104"/>
          <p:cNvSpPr>
            <a:spLocks noChangeShapeType="1"/>
          </p:cNvSpPr>
          <p:nvPr/>
        </p:nvSpPr>
        <p:spPr bwMode="auto">
          <a:xfrm>
            <a:off x="7560247" y="5768688"/>
            <a:ext cx="459231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Line 99"/>
          <p:cNvSpPr>
            <a:spLocks noChangeShapeType="1"/>
          </p:cNvSpPr>
          <p:nvPr/>
        </p:nvSpPr>
        <p:spPr bwMode="auto">
          <a:xfrm>
            <a:off x="8175066" y="4870704"/>
            <a:ext cx="277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Line 99"/>
          <p:cNvSpPr>
            <a:spLocks noChangeShapeType="1"/>
          </p:cNvSpPr>
          <p:nvPr/>
        </p:nvSpPr>
        <p:spPr bwMode="auto">
          <a:xfrm>
            <a:off x="8334239" y="5151587"/>
            <a:ext cx="277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Line 99"/>
          <p:cNvSpPr>
            <a:spLocks noChangeShapeType="1"/>
          </p:cNvSpPr>
          <p:nvPr/>
        </p:nvSpPr>
        <p:spPr bwMode="auto">
          <a:xfrm>
            <a:off x="7984565" y="5462736"/>
            <a:ext cx="62748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97"/>
          <p:cNvSpPr>
            <a:spLocks noChangeShapeType="1"/>
          </p:cNvSpPr>
          <p:nvPr/>
        </p:nvSpPr>
        <p:spPr bwMode="auto">
          <a:xfrm>
            <a:off x="7984565" y="4761856"/>
            <a:ext cx="338138" cy="585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Text Box 62"/>
          <p:cNvSpPr txBox="1">
            <a:spLocks noChangeArrowheads="1"/>
          </p:cNvSpPr>
          <p:nvPr/>
        </p:nvSpPr>
        <p:spPr bwMode="auto">
          <a:xfrm flipH="1">
            <a:off x="4360092" y="5768689"/>
            <a:ext cx="10871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1400" dirty="0"/>
              <a:t>METHODE</a:t>
            </a:r>
          </a:p>
        </p:txBody>
      </p:sp>
      <p:sp>
        <p:nvSpPr>
          <p:cNvPr id="94" name="Text Box 62"/>
          <p:cNvSpPr txBox="1">
            <a:spLocks noChangeArrowheads="1"/>
          </p:cNvSpPr>
          <p:nvPr/>
        </p:nvSpPr>
        <p:spPr bwMode="auto">
          <a:xfrm flipH="1">
            <a:off x="7638488" y="5865420"/>
            <a:ext cx="8583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1400" dirty="0"/>
              <a:t> TOOLS</a:t>
            </a:r>
          </a:p>
        </p:txBody>
      </p:sp>
      <p:sp>
        <p:nvSpPr>
          <p:cNvPr id="95" name="Text Box 113"/>
          <p:cNvSpPr txBox="1">
            <a:spLocks noChangeArrowheads="1"/>
          </p:cNvSpPr>
          <p:nvPr/>
        </p:nvSpPr>
        <p:spPr bwMode="auto">
          <a:xfrm>
            <a:off x="1530747" y="6327918"/>
            <a:ext cx="9109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semua</a:t>
            </a:r>
            <a:r>
              <a:rPr lang="en-US" sz="1200" dirty="0"/>
              <a:t> </a:t>
            </a:r>
            <a:r>
              <a:rPr lang="en-US" sz="1200" dirty="0" err="1"/>
              <a:t>akar</a:t>
            </a:r>
            <a:r>
              <a:rPr lang="en-US" sz="1200" dirty="0"/>
              <a:t> </a:t>
            </a:r>
            <a:r>
              <a:rPr lang="en-US" sz="1200" dirty="0" err="1"/>
              <a:t>masalah</a:t>
            </a:r>
            <a:r>
              <a:rPr lang="en-US" sz="1200" dirty="0"/>
              <a:t> </a:t>
            </a:r>
            <a:r>
              <a:rPr lang="en-US" sz="1200" dirty="0" err="1"/>
              <a:t>teridentifikasi</a:t>
            </a:r>
            <a:r>
              <a:rPr lang="en-US" sz="1200" dirty="0"/>
              <a:t>, </a:t>
            </a:r>
            <a:r>
              <a:rPr lang="en-US" sz="1200" dirty="0" err="1"/>
              <a:t>Tentukan</a:t>
            </a:r>
            <a:r>
              <a:rPr lang="en-US" sz="1200" dirty="0"/>
              <a:t> </a:t>
            </a:r>
            <a:r>
              <a:rPr lang="id-ID" sz="1200" dirty="0"/>
              <a:t>3-4 </a:t>
            </a:r>
            <a:r>
              <a:rPr lang="en-US" sz="1200" dirty="0" err="1"/>
              <a:t>akar</a:t>
            </a:r>
            <a:r>
              <a:rPr lang="en-US" sz="1200" dirty="0"/>
              <a:t> </a:t>
            </a:r>
            <a:r>
              <a:rPr lang="en-US" sz="1200" dirty="0" err="1"/>
              <a:t>masalah</a:t>
            </a:r>
            <a:r>
              <a:rPr lang="en-US" sz="1200" dirty="0"/>
              <a:t> </a:t>
            </a:r>
            <a:r>
              <a:rPr lang="en-US" sz="1200" dirty="0" err="1"/>
              <a:t>yg</a:t>
            </a:r>
            <a:r>
              <a:rPr lang="en-US" sz="1200" dirty="0"/>
              <a:t> paling </a:t>
            </a:r>
            <a:r>
              <a:rPr lang="en-US" sz="1200" dirty="0" err="1"/>
              <a:t>dominan</a:t>
            </a:r>
            <a:r>
              <a:rPr lang="en-US" sz="1200" dirty="0"/>
              <a:t> (</a:t>
            </a:r>
            <a:r>
              <a:rPr lang="en-US" sz="1200" dirty="0" err="1"/>
              <a:t>pareto</a:t>
            </a:r>
            <a:r>
              <a:rPr lang="en-US" sz="1200" dirty="0"/>
              <a:t>)</a:t>
            </a:r>
            <a:r>
              <a:rPr lang="id-ID" sz="1200" dirty="0"/>
              <a:t>.</a:t>
            </a:r>
          </a:p>
          <a:p>
            <a:pPr algn="ctr"/>
            <a:r>
              <a:rPr lang="en-US" sz="1200" dirty="0" err="1"/>
              <a:t>Lanjutkan</a:t>
            </a:r>
            <a:r>
              <a:rPr lang="en-US" sz="1200" dirty="0"/>
              <a:t> </a:t>
            </a:r>
            <a:r>
              <a:rPr lang="en-US" sz="1200" dirty="0" err="1"/>
              <a:t>kelangkah</a:t>
            </a:r>
            <a:r>
              <a:rPr lang="en-US" sz="1200" dirty="0"/>
              <a:t> </a:t>
            </a:r>
            <a:r>
              <a:rPr lang="en-US" sz="1200" dirty="0" err="1"/>
              <a:t>berikut</a:t>
            </a:r>
            <a:r>
              <a:rPr lang="en-US" sz="1200" dirty="0"/>
              <a:t>.</a:t>
            </a:r>
          </a:p>
        </p:txBody>
      </p:sp>
      <p:pic>
        <p:nvPicPr>
          <p:cNvPr id="96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269310"/>
              </p:ext>
            </p:extLst>
          </p:nvPr>
        </p:nvGraphicFramePr>
        <p:xfrm>
          <a:off x="316883" y="972264"/>
          <a:ext cx="11485983" cy="5783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3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3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2231">
                <a:tc>
                  <a:txBody>
                    <a:bodyPr/>
                    <a:lstStyle/>
                    <a:p>
                      <a:endParaRPr lang="id-ID" sz="12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200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 Cause</a:t>
                      </a:r>
                      <a:endParaRPr lang="id-ID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id-ID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Dominan</a:t>
                      </a:r>
                    </a:p>
                    <a:p>
                      <a:r>
                        <a:rPr lang="id-ID" sz="12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Tulis</a:t>
                      </a:r>
                      <a:r>
                        <a:rPr lang="id-ID" sz="1200" b="0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akar penyebab hanya yg dominan saja</a:t>
                      </a:r>
                      <a:endParaRPr lang="id-ID" sz="12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Alternatif </a:t>
                      </a:r>
                    </a:p>
                    <a:p>
                      <a:r>
                        <a:rPr lang="id-ID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Tulis sebanyak-banyaknya solusi inovatif yg bisa dipakai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Perkirakan besarnya Benefit vs Cost tiap solusi</a:t>
                      </a:r>
                      <a:endParaRPr lang="id-ID" sz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id-ID" sz="1200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id-ID" sz="1200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Pilih solusi inovatif yg Benefit per Cost nya paling tinggi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951">
                <a:tc>
                  <a:txBody>
                    <a:bodyPr/>
                    <a:lstStyle/>
                    <a:p>
                      <a:pPr algn="ctr"/>
                      <a:r>
                        <a:rPr lang="id-ID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People</a:t>
                      </a:r>
                    </a:p>
                  </a:txBody>
                  <a:tcPr vert="vert27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Penyebab</a:t>
                      </a: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P11111</a:t>
                      </a:r>
                    </a:p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Petugas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Customer Handling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memiliki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kompetensi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menerima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menindaklanjuti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komplain</a:t>
                      </a:r>
                      <a:r>
                        <a:rPr lang="en-ID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 P1- </a:t>
                      </a:r>
                      <a:r>
                        <a:rPr lang="en-ID" sz="1200" b="0" dirty="0" err="1"/>
                        <a:t>Pelatihan</a:t>
                      </a:r>
                      <a:r>
                        <a:rPr lang="en-ID" sz="1200" b="0" dirty="0"/>
                        <a:t> </a:t>
                      </a:r>
                      <a:r>
                        <a:rPr lang="en-ID" sz="1200" b="0" dirty="0" err="1"/>
                        <a:t>Standarisasi</a:t>
                      </a:r>
                      <a:r>
                        <a:rPr lang="en-ID" sz="1200" b="0" dirty="0"/>
                        <a:t> Customer Handling (SOP + SLA + </a:t>
                      </a:r>
                      <a:r>
                        <a:rPr lang="en-ID" sz="1200" b="0" dirty="0" err="1"/>
                        <a:t>teknik</a:t>
                      </a:r>
                      <a:r>
                        <a:rPr lang="en-ID" sz="1200" b="0" dirty="0"/>
                        <a:t> </a:t>
                      </a:r>
                      <a:r>
                        <a:rPr lang="en-ID" sz="1200" b="0" dirty="0" err="1"/>
                        <a:t>komunikasi</a:t>
                      </a:r>
                      <a:r>
                        <a:rPr lang="en-ID" sz="1200" b="0" dirty="0"/>
                        <a:t>)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 P2 - </a:t>
                      </a:r>
                      <a:r>
                        <a:rPr lang="en-ID" sz="1200" b="0" dirty="0" err="1"/>
                        <a:t>Pembuatan</a:t>
                      </a:r>
                      <a:r>
                        <a:rPr lang="en-ID" sz="1200" b="0" dirty="0"/>
                        <a:t> </a:t>
                      </a:r>
                      <a:r>
                        <a:rPr lang="en-ID" sz="1200" b="0" dirty="0" err="1"/>
                        <a:t>modul</a:t>
                      </a:r>
                      <a:r>
                        <a:rPr lang="en-ID" sz="1200" b="0" dirty="0"/>
                        <a:t> micro-learning </a:t>
                      </a:r>
                      <a:r>
                        <a:rPr lang="en-ID" sz="1200" b="0" dirty="0" err="1"/>
                        <a:t>dalam</a:t>
                      </a:r>
                      <a:r>
                        <a:rPr lang="en-ID" sz="1200" b="0" dirty="0"/>
                        <a:t> </a:t>
                      </a:r>
                      <a:r>
                        <a:rPr lang="en-ID" sz="1200" b="0" dirty="0" err="1"/>
                        <a:t>HaloMitra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B/C P1 - </a:t>
                      </a:r>
                      <a:r>
                        <a:rPr lang="sv-SE" sz="1200" b="0" dirty="0"/>
                        <a:t>Tinggi Benefit – Cost Rendah (pelatihan sekali, dampak jangka panjang)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B/C P2 - </a:t>
                      </a:r>
                      <a:r>
                        <a:rPr lang="en-ID" sz="1200" b="0" dirty="0"/>
                        <a:t>Benefit Sedang – Cost Sedang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 P1 - </a:t>
                      </a:r>
                      <a:r>
                        <a:rPr lang="en-ID" sz="1200" dirty="0"/>
                        <a:t>(</a:t>
                      </a:r>
                      <a:r>
                        <a:rPr lang="en-ID" sz="1200" dirty="0" err="1"/>
                        <a:t>Pelatihan</a:t>
                      </a:r>
                      <a:r>
                        <a:rPr lang="en-ID" sz="1200" dirty="0"/>
                        <a:t> &amp; </a:t>
                      </a:r>
                      <a:r>
                        <a:rPr lang="en-ID" sz="1200" dirty="0" err="1"/>
                        <a:t>standarisasi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kompetensi</a:t>
                      </a:r>
                      <a:r>
                        <a:rPr lang="en-ID" sz="1200" dirty="0"/>
                        <a:t> CHM di </a:t>
                      </a:r>
                      <a:r>
                        <a:rPr lang="en-ID" sz="1200" dirty="0" err="1"/>
                        <a:t>seluruh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cabang</a:t>
                      </a:r>
                      <a:r>
                        <a:rPr lang="en-ID" sz="1200" dirty="0"/>
                        <a:t>)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075">
                <a:tc>
                  <a:txBody>
                    <a:bodyPr/>
                    <a:lstStyle/>
                    <a:p>
                      <a:pPr algn="ctr"/>
                      <a:r>
                        <a:rPr lang="id-ID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vert="vert27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Penyebab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200" dirty="0"/>
                        <a:t>Proses </a:t>
                      </a:r>
                      <a:r>
                        <a:rPr lang="en-ID" sz="1200" dirty="0" err="1"/>
                        <a:t>penanganan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komplain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tidak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seragam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antar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cabang</a:t>
                      </a:r>
                      <a:r>
                        <a:rPr lang="en-ID" sz="1200" dirty="0"/>
                        <a:t>, </a:t>
                      </a:r>
                      <a:r>
                        <a:rPr lang="en-ID" sz="1200" dirty="0" err="1"/>
                        <a:t>tidak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ada</a:t>
                      </a:r>
                      <a:r>
                        <a:rPr lang="en-ID" sz="1200" dirty="0"/>
                        <a:t> tracking SLA.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 M1 - </a:t>
                      </a:r>
                      <a:r>
                        <a:rPr lang="en-US" sz="1200" b="0" dirty="0" err="1"/>
                        <a:t>Penetapan</a:t>
                      </a:r>
                      <a:r>
                        <a:rPr lang="en-US" sz="1200" b="0" dirty="0"/>
                        <a:t> SOP Customer Handling </a:t>
                      </a:r>
                      <a:r>
                        <a:rPr lang="en-US" sz="1200" b="0" dirty="0" err="1"/>
                        <a:t>baru</a:t>
                      </a:r>
                      <a:r>
                        <a:rPr lang="en-US" sz="1200" b="0" dirty="0"/>
                        <a:t> (</a:t>
                      </a:r>
                      <a:r>
                        <a:rPr lang="en-US" sz="1200" b="0" dirty="0" err="1"/>
                        <a:t>alur</a:t>
                      </a:r>
                      <a:r>
                        <a:rPr lang="en-US" sz="1200" b="0" dirty="0"/>
                        <a:t> Open–Progress–Closed)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 M2 - </a:t>
                      </a:r>
                      <a:r>
                        <a:rPr lang="en-ID" sz="1200" b="0" dirty="0" err="1"/>
                        <a:t>Menetapkan</a:t>
                      </a:r>
                      <a:r>
                        <a:rPr lang="en-ID" sz="1200" b="0" dirty="0"/>
                        <a:t> SLA </a:t>
                      </a:r>
                      <a:r>
                        <a:rPr lang="en-ID" sz="1200" b="0" dirty="0" err="1"/>
                        <a:t>terukur</a:t>
                      </a:r>
                      <a:r>
                        <a:rPr lang="en-ID" sz="1200" b="0" dirty="0"/>
                        <a:t> (</a:t>
                      </a:r>
                      <a:r>
                        <a:rPr lang="en-ID" sz="1200" b="0" dirty="0" err="1"/>
                        <a:t>respon</a:t>
                      </a:r>
                      <a:r>
                        <a:rPr lang="en-ID" sz="1200" b="0" dirty="0"/>
                        <a:t> ≤6 jam; </a:t>
                      </a:r>
                      <a:r>
                        <a:rPr lang="en-ID" sz="1200" b="0" dirty="0" err="1"/>
                        <a:t>penyelesaian</a:t>
                      </a:r>
                      <a:r>
                        <a:rPr lang="en-ID" sz="1200" b="0" dirty="0"/>
                        <a:t> ≤3 </a:t>
                      </a:r>
                      <a:r>
                        <a:rPr lang="en-ID" sz="1200" b="0" dirty="0" err="1"/>
                        <a:t>hari</a:t>
                      </a:r>
                      <a:r>
                        <a:rPr lang="en-ID" sz="1200" b="0" dirty="0"/>
                        <a:t>)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 M3=Solusi T2 - </a:t>
                      </a:r>
                      <a:r>
                        <a:rPr lang="en-ID" sz="1200" b="0" dirty="0" err="1"/>
                        <a:t>Digitalisasi</a:t>
                      </a:r>
                      <a:r>
                        <a:rPr lang="en-ID" sz="1200" b="0" dirty="0"/>
                        <a:t> </a:t>
                      </a:r>
                      <a:r>
                        <a:rPr lang="en-ID" sz="1200" b="0" dirty="0" err="1"/>
                        <a:t>alur</a:t>
                      </a:r>
                      <a:r>
                        <a:rPr lang="en-ID" sz="1200" b="0" dirty="0"/>
                        <a:t> proses </a:t>
                      </a:r>
                      <a:r>
                        <a:rPr lang="en-ID" sz="1200" b="0" dirty="0" err="1"/>
                        <a:t>melalui</a:t>
                      </a:r>
                      <a:r>
                        <a:rPr lang="en-ID" sz="1200" b="0" dirty="0"/>
                        <a:t> </a:t>
                      </a:r>
                      <a:r>
                        <a:rPr lang="en-ID" sz="1200" b="0" dirty="0" err="1"/>
                        <a:t>HaloMitra</a:t>
                      </a:r>
                      <a:r>
                        <a:rPr lang="en-ID" sz="1200" b="0" dirty="0"/>
                        <a:t> </a:t>
                      </a:r>
                      <a:r>
                        <a:rPr lang="en-ID" sz="1200" b="0" dirty="0" err="1"/>
                        <a:t>dengan</a:t>
                      </a:r>
                      <a:r>
                        <a:rPr lang="en-ID" sz="1200" b="0" dirty="0"/>
                        <a:t> auto-notification, SLA timer, dan dashboard CHM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B/C M1 - </a:t>
                      </a:r>
                      <a:r>
                        <a:rPr lang="en-ID" sz="1200" dirty="0"/>
                        <a:t>Benefit Sedang – Cost </a:t>
                      </a:r>
                      <a:r>
                        <a:rPr lang="en-ID" sz="1200" dirty="0" err="1"/>
                        <a:t>Rendah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B/C M2 - </a:t>
                      </a:r>
                      <a:r>
                        <a:rPr lang="en-ID" sz="1200" dirty="0"/>
                        <a:t>Benefit Tinggi – Cost </a:t>
                      </a:r>
                      <a:r>
                        <a:rPr lang="en-ID" sz="1200" dirty="0" err="1"/>
                        <a:t>Rendah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B/C M3&amp;</a:t>
                      </a:r>
                      <a:r>
                        <a:rPr kumimoji="0" lang="id-ID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2 - </a:t>
                      </a:r>
                      <a:r>
                        <a:rPr lang="en-US" sz="1200" dirty="0"/>
                        <a:t>Benefit Sangat Tinggi – Cost Sedang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M3/</a:t>
                      </a:r>
                      <a:r>
                        <a:rPr kumimoji="0" lang="id-ID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2 - </a:t>
                      </a:r>
                      <a:r>
                        <a:rPr lang="en-ID" sz="1200" dirty="0"/>
                        <a:t>(</a:t>
                      </a:r>
                      <a:r>
                        <a:rPr lang="en-ID" sz="1200" dirty="0" err="1"/>
                        <a:t>Digitalisasi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standar</a:t>
                      </a:r>
                      <a:r>
                        <a:rPr lang="en-ID" sz="1200" dirty="0"/>
                        <a:t> proses CHM </a:t>
                      </a:r>
                      <a:r>
                        <a:rPr lang="en-ID" sz="1200" dirty="0" err="1"/>
                        <a:t>melalui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HaloMitra</a:t>
                      </a:r>
                      <a:r>
                        <a:rPr lang="en-ID" sz="1200" dirty="0"/>
                        <a:t>)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9951">
                <a:tc>
                  <a:txBody>
                    <a:bodyPr/>
                    <a:lstStyle/>
                    <a:p>
                      <a:pPr algn="ctr"/>
                      <a:r>
                        <a:rPr lang="id-ID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Infrastructure</a:t>
                      </a:r>
                    </a:p>
                  </a:txBody>
                  <a:tcPr vert="vert27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Penyebab</a:t>
                      </a: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ID" sz="1200" dirty="0" err="1"/>
                        <a:t>Tidak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ada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sistem</a:t>
                      </a:r>
                      <a:r>
                        <a:rPr lang="en-ID" sz="1200" dirty="0"/>
                        <a:t> digital </a:t>
                      </a:r>
                      <a:r>
                        <a:rPr lang="en-ID" sz="1200" dirty="0" err="1"/>
                        <a:t>terintegrasi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untuk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komplain</a:t>
                      </a:r>
                      <a:r>
                        <a:rPr lang="en-ID" sz="1200" dirty="0"/>
                        <a:t>, </a:t>
                      </a:r>
                      <a:r>
                        <a:rPr lang="en-ID" sz="1200" dirty="0" err="1"/>
                        <a:t>kehadiran</a:t>
                      </a:r>
                      <a:r>
                        <a:rPr lang="en-ID" sz="1200" dirty="0"/>
                        <a:t>, billing, dan </a:t>
                      </a:r>
                      <a:r>
                        <a:rPr lang="en-ID" sz="1200" dirty="0" err="1"/>
                        <a:t>aktivitas</a:t>
                      </a:r>
                      <a:r>
                        <a:rPr lang="en-ID" sz="1200" dirty="0"/>
                        <a:t> manpower.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</a:t>
                      </a:r>
                      <a:r>
                        <a:rPr lang="fr-FR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fr-FR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1 - </a:t>
                      </a:r>
                      <a:r>
                        <a:rPr lang="en-ID" sz="1200" b="0" dirty="0" err="1"/>
                        <a:t>Pembuatan</a:t>
                      </a:r>
                      <a:r>
                        <a:rPr lang="en-ID" sz="1200" b="0" dirty="0"/>
                        <a:t> dashboard </a:t>
                      </a:r>
                      <a:r>
                        <a:rPr lang="en-ID" sz="1200" b="0" dirty="0" err="1"/>
                        <a:t>komplain</a:t>
                      </a:r>
                      <a:r>
                        <a:rPr lang="en-ID" sz="1200" b="0" dirty="0"/>
                        <a:t> </a:t>
                      </a:r>
                      <a:r>
                        <a:rPr lang="en-ID" sz="1200" b="0" dirty="0" err="1"/>
                        <a:t>sederhana</a:t>
                      </a:r>
                      <a:r>
                        <a:rPr lang="en-ID" sz="1200" b="0" dirty="0"/>
                        <a:t> (manual spreadsheet)</a:t>
                      </a:r>
                      <a:endParaRPr lang="fr-FR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</a:t>
                      </a:r>
                      <a:r>
                        <a:rPr lang="fr-FR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fr-FR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2 - </a:t>
                      </a:r>
                      <a:r>
                        <a:rPr lang="en-US" sz="1200" b="0" dirty="0" err="1"/>
                        <a:t>Pengembangan</a:t>
                      </a:r>
                      <a:r>
                        <a:rPr lang="en-US" sz="1200" b="0" dirty="0"/>
                        <a:t> platform digital </a:t>
                      </a:r>
                      <a:r>
                        <a:rPr lang="en-US" sz="1200" b="0" dirty="0" err="1"/>
                        <a:t>HaloMitra</a:t>
                      </a:r>
                      <a:r>
                        <a:rPr lang="en-US" sz="1200" b="0" dirty="0"/>
                        <a:t> (complain center, activity report, presence, billing)</a:t>
                      </a:r>
                      <a:endParaRPr lang="fr-FR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</a:t>
                      </a:r>
                      <a:r>
                        <a:rPr lang="fr-FR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fr-FR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3 - </a:t>
                      </a:r>
                      <a:r>
                        <a:rPr lang="nn-NO" sz="1200" b="0" dirty="0"/>
                        <a:t>Integrasi API dengan sistem lain (Odoo/HRIS)</a:t>
                      </a:r>
                      <a:endParaRPr lang="fr-FR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B/C </a:t>
                      </a:r>
                      <a:r>
                        <a:rPr lang="id-ID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1 - </a:t>
                      </a:r>
                      <a:r>
                        <a:rPr lang="en-ID" sz="1200" dirty="0"/>
                        <a:t>Benefit </a:t>
                      </a:r>
                      <a:r>
                        <a:rPr lang="en-ID" sz="1200" dirty="0" err="1"/>
                        <a:t>Rendah</a:t>
                      </a:r>
                      <a:r>
                        <a:rPr lang="en-ID" sz="1200" dirty="0"/>
                        <a:t> – Cost </a:t>
                      </a:r>
                      <a:r>
                        <a:rPr lang="en-ID" sz="1200" dirty="0" err="1"/>
                        <a:t>Rendah</a:t>
                      </a:r>
                      <a:r>
                        <a:rPr lang="en-ID" sz="1200" dirty="0"/>
                        <a:t> (</a:t>
                      </a:r>
                      <a:r>
                        <a:rPr lang="en-ID" sz="1200" dirty="0" err="1"/>
                        <a:t>Tidak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berkelanjutan</a:t>
                      </a:r>
                      <a:r>
                        <a:rPr lang="en-ID" sz="1200" dirty="0"/>
                        <a:t>)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B/C </a:t>
                      </a:r>
                      <a:r>
                        <a:rPr lang="id-ID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2 - </a:t>
                      </a:r>
                      <a:r>
                        <a:rPr lang="en-US" sz="1200" dirty="0"/>
                        <a:t>Benefit Sangat Tinggi – Cost Sedang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B/C </a:t>
                      </a:r>
                      <a:r>
                        <a:rPr lang="id-ID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3 - </a:t>
                      </a:r>
                      <a:r>
                        <a:rPr lang="en-ID" sz="1200" dirty="0"/>
                        <a:t>Benefit Tinggi – Cost Tinggi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</a:t>
                      </a: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M3/</a:t>
                      </a:r>
                      <a:r>
                        <a:rPr lang="id-ID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2 - </a:t>
                      </a:r>
                      <a:r>
                        <a:rPr lang="nn-NO" sz="1200" dirty="0"/>
                        <a:t>(Pengembangan sistem digital HaloMitra sebagai platform utama)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2896798" y="1039920"/>
            <a:ext cx="341312" cy="36036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id-ID">
              <a:solidFill>
                <a:srgbClr val="FFFFFF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5548173" y="1039919"/>
            <a:ext cx="341312" cy="36036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id-ID">
              <a:solidFill>
                <a:srgbClr val="FFFFFF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7716515" y="1039919"/>
            <a:ext cx="341312" cy="36036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id-ID">
              <a:solidFill>
                <a:srgbClr val="FFFFFF"/>
              </a:solidFill>
            </a:endParaRPr>
          </a:p>
        </p:txBody>
      </p:sp>
      <p:pic>
        <p:nvPicPr>
          <p:cNvPr id="10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858" y="-134901"/>
            <a:ext cx="2307142" cy="121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15" y="0"/>
            <a:ext cx="2058166" cy="9468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1894112" y="175870"/>
            <a:ext cx="8229600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b="1" dirty="0"/>
              <a:t>3. Pencarian Akar Masalah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905001" y="609601"/>
            <a:ext cx="8183563" cy="71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id-ID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Explorasi Ide</a:t>
            </a: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569167" y="1801017"/>
            <a:ext cx="35607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id-ID" sz="1600" b="1" dirty="0"/>
              <a:t>Blueprint ide/solusi </a:t>
            </a:r>
            <a:r>
              <a:rPr lang="en-US" sz="1600" b="1" dirty="0"/>
              <a:t>:</a:t>
            </a:r>
          </a:p>
        </p:txBody>
      </p:sp>
      <p:sp>
        <p:nvSpPr>
          <p:cNvPr id="7" name="Text Box 55"/>
          <p:cNvSpPr txBox="1">
            <a:spLocks noChangeArrowheads="1"/>
          </p:cNvSpPr>
          <p:nvPr/>
        </p:nvSpPr>
        <p:spPr bwMode="auto">
          <a:xfrm>
            <a:off x="569167" y="2097881"/>
            <a:ext cx="8424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200" dirty="0" err="1"/>
              <a:t>Tuliskan</a:t>
            </a:r>
            <a:r>
              <a:rPr lang="en-US" sz="1200" dirty="0"/>
              <a:t> blueprint </a:t>
            </a:r>
            <a:r>
              <a:rPr lang="en-US" sz="1200" dirty="0" err="1"/>
              <a:t>maupun</a:t>
            </a:r>
            <a:r>
              <a:rPr lang="en-US" sz="1200" dirty="0"/>
              <a:t> </a:t>
            </a:r>
            <a:r>
              <a:rPr lang="en-US" sz="1200" dirty="0" err="1"/>
              <a:t>penjelasan</a:t>
            </a:r>
            <a:r>
              <a:rPr lang="en-US" sz="1200" dirty="0"/>
              <a:t> detail </a:t>
            </a:r>
            <a:r>
              <a:rPr lang="en-US" sz="1200" dirty="0" err="1"/>
              <a:t>tentang</a:t>
            </a:r>
            <a:r>
              <a:rPr lang="en-US" sz="1200" dirty="0"/>
              <a:t> ide/</a:t>
            </a:r>
            <a:r>
              <a:rPr lang="en-US" sz="1200" dirty="0" err="1"/>
              <a:t>solusi</a:t>
            </a:r>
            <a:r>
              <a:rPr lang="en-US" sz="1200" dirty="0"/>
              <a:t> </a:t>
            </a:r>
            <a:r>
              <a:rPr lang="en-US" sz="1200" dirty="0" err="1"/>
              <a:t>inovatif</a:t>
            </a:r>
            <a:r>
              <a:rPr lang="en-US" sz="1200" dirty="0"/>
              <a:t> </a:t>
            </a:r>
            <a:r>
              <a:rPr lang="en-US" sz="1200" dirty="0" err="1"/>
              <a:t>anda</a:t>
            </a:r>
            <a:endParaRPr lang="en-US" sz="1200" dirty="0"/>
          </a:p>
        </p:txBody>
      </p:sp>
      <p:sp>
        <p:nvSpPr>
          <p:cNvPr id="8" name="Rectangle 53"/>
          <p:cNvSpPr>
            <a:spLocks noChangeArrowheads="1"/>
          </p:cNvSpPr>
          <p:nvPr/>
        </p:nvSpPr>
        <p:spPr bwMode="auto">
          <a:xfrm>
            <a:off x="569167" y="2395216"/>
            <a:ext cx="6671388" cy="40401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2">
                <a:lumMod val="20000"/>
                <a:lumOff val="80000"/>
              </a:schemeClr>
            </a:solidFill>
            <a:miter lim="800000"/>
          </a:ln>
        </p:spPr>
        <p:txBody>
          <a:bodyPr/>
          <a:lstStyle/>
          <a:p>
            <a:pPr algn="just"/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HaloMitra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yang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dirancang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Care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 Mitra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Bakti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UT. Platform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satu-satunya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pengaduan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penilaian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dan real-time.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HaloMitra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transparansi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standarisasi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pelayanan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cabang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MBUT.</a:t>
            </a:r>
          </a:p>
          <a:p>
            <a:pPr algn="just"/>
            <a:endParaRPr lang="en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Salah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HaloMitra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Complain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memungkinkan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menyampaikan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sekaligus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memantau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penanganannya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komplain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ditampilkan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lang="en-ID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Progress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disertai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SLA timer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progress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dipastikan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ditetapkan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mengunggah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bukti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sementara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mengirimkan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notifikasi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pic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memastikan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komplain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ditangani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terukur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Riwayat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komplain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tersimpan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peningkatan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transparansi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pelaporan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finansial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HaloMitra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menyediakan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Preview Dashboard yang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daftar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kontrak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tagihan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tertunda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billing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D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pekerjaan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masing-masing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memperoleh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menunggu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cabang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1" y="2423886"/>
            <a:ext cx="2886751" cy="1939689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2"/>
            </a:solidFill>
            <a:miter lim="800000"/>
          </a:ln>
        </p:spPr>
        <p:txBody>
          <a:bodyPr anchor="b"/>
          <a:lstStyle/>
          <a:p>
            <a:pPr algn="r">
              <a:defRPr/>
            </a:pPr>
            <a:r>
              <a:rPr lang="id-ID" sz="1200"/>
              <a:t>Gambar Bagan/Skema/Denah </a:t>
            </a:r>
          </a:p>
          <a:p>
            <a:pPr algn="r">
              <a:defRPr/>
            </a:pPr>
            <a:r>
              <a:rPr lang="id-ID" sz="1200"/>
              <a:t>jika diperlukan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24255" y="4522797"/>
            <a:ext cx="2886751" cy="1939689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2"/>
            </a:solidFill>
            <a:miter lim="800000"/>
          </a:ln>
        </p:spPr>
        <p:txBody>
          <a:bodyPr anchor="b"/>
          <a:lstStyle/>
          <a:p>
            <a:pPr algn="r">
              <a:defRPr/>
            </a:pPr>
            <a:r>
              <a:rPr lang="id-ID" sz="1200"/>
              <a:t>Gambar Bagan/Skema/Denah </a:t>
            </a:r>
          </a:p>
          <a:p>
            <a:pPr algn="r">
              <a:defRPr/>
            </a:pPr>
            <a:r>
              <a:rPr lang="id-ID" sz="1200"/>
              <a:t>jika diperlukan</a:t>
            </a:r>
          </a:p>
        </p:txBody>
      </p:sp>
      <p:pic>
        <p:nvPicPr>
          <p:cNvPr id="10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54156" y="187796"/>
            <a:ext cx="8183563" cy="7143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id-ID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5. Perencanaan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id-ID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057386"/>
              </p:ext>
            </p:extLst>
          </p:nvPr>
        </p:nvGraphicFramePr>
        <p:xfrm>
          <a:off x="362339" y="1052919"/>
          <a:ext cx="11467322" cy="5752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6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2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23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40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9667">
                <a:tc>
                  <a:txBody>
                    <a:bodyPr/>
                    <a:lstStyle/>
                    <a:p>
                      <a:endParaRPr lang="id-ID" sz="10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i="1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Why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i="1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What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i="1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When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i="1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Who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i="1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Where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i="1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How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000" i="1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How Much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179">
                <a:tc>
                  <a:txBody>
                    <a:bodyPr/>
                    <a:lstStyle/>
                    <a:p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0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Solusi yang dipilih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00" baseline="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Target</a:t>
                      </a:r>
                    </a:p>
                    <a:p>
                      <a:r>
                        <a:rPr lang="id-ID" sz="1000" baseline="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Antara</a:t>
                      </a:r>
                      <a:endParaRPr lang="id-ID" sz="1000" dirty="0">
                        <a:solidFill>
                          <a:schemeClr val="bg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0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Jadwal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0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PIC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0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Pihak</a:t>
                      </a:r>
                      <a:r>
                        <a:rPr lang="id-ID" sz="1000" baseline="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yg berhubungan</a:t>
                      </a:r>
                      <a:endParaRPr lang="id-ID" sz="1000" dirty="0">
                        <a:solidFill>
                          <a:schemeClr val="bg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0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Aktifitas/</a:t>
                      </a:r>
                      <a:r>
                        <a:rPr lang="id-ID" sz="1000" baseline="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Langkah2 Perbaikan</a:t>
                      </a:r>
                      <a:endParaRPr lang="id-ID" sz="1000" dirty="0">
                        <a:solidFill>
                          <a:schemeClr val="bg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00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Budget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2348">
                <a:tc>
                  <a:txBody>
                    <a:bodyPr/>
                    <a:lstStyle/>
                    <a:p>
                      <a:pPr algn="ctr"/>
                      <a:r>
                        <a:rPr lang="id-ID" sz="1000" i="1" dirty="0">
                          <a:latin typeface="Calibri" panose="020F0502020204030204" charset="0"/>
                          <a:cs typeface="Calibri" panose="020F0502020204030204" charset="0"/>
                        </a:rPr>
                        <a:t>People</a:t>
                      </a:r>
                    </a:p>
                  </a:txBody>
                  <a:tcPr vert="vert27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Solusi P1 </a:t>
                      </a:r>
                      <a:r>
                        <a:rPr lang="en-ID" sz="1000" dirty="0" err="1"/>
                        <a:t>Untuk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memastikan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seluruh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petugas</a:t>
                      </a:r>
                      <a:r>
                        <a:rPr lang="en-ID" sz="1000" dirty="0"/>
                        <a:t> Customer Handling </a:t>
                      </a:r>
                      <a:r>
                        <a:rPr lang="en-ID" sz="1000" dirty="0" err="1"/>
                        <a:t>memiliki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kompetensi</a:t>
                      </a:r>
                      <a:r>
                        <a:rPr lang="en-ID" sz="1000" dirty="0"/>
                        <a:t> dan </a:t>
                      </a:r>
                      <a:r>
                        <a:rPr lang="en-ID" sz="1000" dirty="0" err="1"/>
                        <a:t>standar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pelayanan</a:t>
                      </a:r>
                      <a:r>
                        <a:rPr lang="en-ID" sz="1000" dirty="0"/>
                        <a:t> yang </a:t>
                      </a:r>
                      <a:r>
                        <a:rPr lang="en-ID" sz="1000" dirty="0" err="1"/>
                        <a:t>seragam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sehingga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kecepatan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respon</a:t>
                      </a:r>
                      <a:r>
                        <a:rPr lang="en-ID" sz="1000" dirty="0"/>
                        <a:t> dan </a:t>
                      </a:r>
                      <a:r>
                        <a:rPr lang="en-ID" sz="1000" dirty="0" err="1"/>
                        <a:t>kualitas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komunikasi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terhadap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pelanggan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meningkat</a:t>
                      </a:r>
                      <a:r>
                        <a:rPr lang="en-ID" sz="1000" dirty="0"/>
                        <a:t>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Melaksanakan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pelatihan</a:t>
                      </a:r>
                      <a:r>
                        <a:rPr lang="en-ID" sz="1000" dirty="0"/>
                        <a:t> dan </a:t>
                      </a:r>
                      <a:r>
                        <a:rPr lang="en-ID" sz="1000" dirty="0" err="1"/>
                        <a:t>standarisasi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prosedur</a:t>
                      </a:r>
                      <a:r>
                        <a:rPr lang="en-ID" sz="1000" dirty="0"/>
                        <a:t> Customer Handling (SOP, SLA, </a:t>
                      </a:r>
                      <a:r>
                        <a:rPr lang="en-ID" sz="1000" dirty="0" err="1"/>
                        <a:t>komunikasi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efektif</a:t>
                      </a:r>
                      <a:r>
                        <a:rPr lang="en-ID" sz="1000" dirty="0"/>
                        <a:t>) </a:t>
                      </a:r>
                      <a:r>
                        <a:rPr lang="en-ID" sz="1000" dirty="0" err="1"/>
                        <a:t>untuk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seluruh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petugas</a:t>
                      </a:r>
                      <a:r>
                        <a:rPr lang="en-ID" sz="1000" dirty="0"/>
                        <a:t> CHM di </a:t>
                      </a:r>
                      <a:r>
                        <a:rPr lang="en-ID" sz="1000" dirty="0" err="1"/>
                        <a:t>cabang</a:t>
                      </a:r>
                      <a:r>
                        <a:rPr lang="en-ID" sz="1000" dirty="0"/>
                        <a:t> dan site.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Dilaksanakan</a:t>
                      </a:r>
                      <a:r>
                        <a:rPr lang="en-ID" sz="1000" dirty="0"/>
                        <a:t> pada </a:t>
                      </a:r>
                      <a:r>
                        <a:rPr lang="en-ID" sz="1000" b="1" dirty="0"/>
                        <a:t>Q1–Q2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sebelum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implementasi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penuh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HaloMitra</a:t>
                      </a:r>
                      <a:r>
                        <a:rPr lang="en-ID" sz="1000" dirty="0"/>
                        <a:t>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/>
                        <a:t>Dept. Business Development &amp; Marketing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/>
                        <a:t>Seluruh cabang dan site PT Mitra Bakti UT (hybrid: online &amp; on-site).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Penyusunan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modul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penyampaian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pelatihan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simulasi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penanganan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komplain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evaluasi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kompetensi</a:t>
                      </a:r>
                      <a:r>
                        <a:rPr lang="en-ID" sz="1000" dirty="0"/>
                        <a:t>, dan </a:t>
                      </a:r>
                      <a:r>
                        <a:rPr lang="en-ID" sz="1000" dirty="0" err="1"/>
                        <a:t>sertifikasi</a:t>
                      </a:r>
                      <a:r>
                        <a:rPr lang="en-ID" sz="1000" dirty="0"/>
                        <a:t> internal.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000" dirty="0"/>
                        <a:t>Biaya pelatihan (trainer, materi, platform pelatihan, dan sesi evaluasi).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5622">
                <a:tc>
                  <a:txBody>
                    <a:bodyPr/>
                    <a:lstStyle/>
                    <a:p>
                      <a:pPr algn="ctr"/>
                      <a:r>
                        <a:rPr lang="id-ID" sz="1000" i="1">
                          <a:latin typeface="Calibri" panose="020F0502020204030204" charset="0"/>
                          <a:cs typeface="Calibri" panose="020F0502020204030204" charset="0"/>
                        </a:rPr>
                        <a:t>Process</a:t>
                      </a:r>
                    </a:p>
                  </a:txBody>
                  <a:tcPr vert="vert27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Solusi M3/</a:t>
                      </a:r>
                      <a:r>
                        <a:rPr kumimoji="0" lang="id-ID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2 </a:t>
                      </a:r>
                      <a:r>
                        <a:rPr lang="en-ID" sz="1000" dirty="0" err="1"/>
                        <a:t>Untuk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menstandarkan</a:t>
                      </a:r>
                      <a:r>
                        <a:rPr lang="en-ID" sz="1000" dirty="0"/>
                        <a:t> proses </a:t>
                      </a:r>
                      <a:r>
                        <a:rPr lang="en-ID" sz="1000" dirty="0" err="1"/>
                        <a:t>penanganan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komplain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memastikan</a:t>
                      </a:r>
                      <a:r>
                        <a:rPr lang="en-ID" sz="1000" dirty="0"/>
                        <a:t> SLA </a:t>
                      </a:r>
                      <a:r>
                        <a:rPr lang="en-ID" sz="1000" dirty="0" err="1"/>
                        <a:t>terpenuhi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serta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menyediakan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alur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penanganan</a:t>
                      </a:r>
                      <a:r>
                        <a:rPr lang="en-ID" sz="1000" dirty="0"/>
                        <a:t> yang </a:t>
                      </a:r>
                      <a:r>
                        <a:rPr lang="en-ID" sz="1000" dirty="0" err="1"/>
                        <a:t>transparan</a:t>
                      </a:r>
                      <a:r>
                        <a:rPr lang="en-ID" sz="1000" dirty="0"/>
                        <a:t> dan </a:t>
                      </a:r>
                      <a:r>
                        <a:rPr lang="en-ID" sz="1000" dirty="0" err="1"/>
                        <a:t>mudah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dipantau</a:t>
                      </a:r>
                      <a:r>
                        <a:rPr lang="en-ID" sz="1000" dirty="0"/>
                        <a:t>.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Mendigitalisasi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seluruh</a:t>
                      </a:r>
                      <a:r>
                        <a:rPr lang="en-ID" sz="1000" dirty="0"/>
                        <a:t> proses Customer Handling, </a:t>
                      </a:r>
                      <a:r>
                        <a:rPr lang="en-ID" sz="1000" dirty="0" err="1"/>
                        <a:t>mulai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dari</a:t>
                      </a:r>
                      <a:r>
                        <a:rPr lang="en-ID" sz="1000" dirty="0"/>
                        <a:t> input </a:t>
                      </a:r>
                      <a:r>
                        <a:rPr lang="en-ID" sz="1000" dirty="0" err="1"/>
                        <a:t>komplain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hingga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penyelesaian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melalui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fitur</a:t>
                      </a:r>
                      <a:r>
                        <a:rPr lang="en-ID" sz="1000" dirty="0"/>
                        <a:t> Complain </a:t>
                      </a:r>
                      <a:r>
                        <a:rPr lang="en-ID" sz="1000" dirty="0" err="1"/>
                        <a:t>Center</a:t>
                      </a:r>
                      <a:r>
                        <a:rPr lang="en-ID" sz="1000" dirty="0"/>
                        <a:t> di </a:t>
                      </a:r>
                      <a:r>
                        <a:rPr lang="en-ID" sz="1000" dirty="0" err="1"/>
                        <a:t>HaloMitra</a:t>
                      </a:r>
                      <a:r>
                        <a:rPr lang="en-ID" sz="1000" dirty="0"/>
                        <a:t>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Implementasi</a:t>
                      </a:r>
                      <a:r>
                        <a:rPr lang="en-ID" sz="1000" dirty="0"/>
                        <a:t> pada </a:t>
                      </a:r>
                      <a:r>
                        <a:rPr lang="en-ID" sz="1000" b="1" dirty="0"/>
                        <a:t>Q2–Q3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setelah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pelatihan</a:t>
                      </a:r>
                      <a:r>
                        <a:rPr lang="en-ID" sz="1000" dirty="0"/>
                        <a:t> CHM (P1) </a:t>
                      </a:r>
                      <a:r>
                        <a:rPr lang="en-ID" sz="1000" dirty="0" err="1"/>
                        <a:t>selesai</a:t>
                      </a:r>
                      <a:r>
                        <a:rPr lang="en-ID" sz="1000" dirty="0"/>
                        <a:t>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Business Development &amp; Marketing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Tim </a:t>
                      </a:r>
                      <a:r>
                        <a:rPr lang="en-US" sz="1000" dirty="0" err="1"/>
                        <a:t>terlibat</a:t>
                      </a:r>
                      <a:r>
                        <a:rPr lang="en-US" sz="1000" dirty="0"/>
                        <a:t>: Customer Care, IT Developer, QA, Cabang/Area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Diterapkan</a:t>
                      </a:r>
                      <a:r>
                        <a:rPr lang="en-ID" sz="1000" dirty="0"/>
                        <a:t> di </a:t>
                      </a:r>
                      <a:r>
                        <a:rPr lang="en-ID" sz="1000" dirty="0" err="1"/>
                        <a:t>seluruh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cabang</a:t>
                      </a:r>
                      <a:r>
                        <a:rPr lang="en-ID" sz="1000" dirty="0"/>
                        <a:t> &amp; site </a:t>
                      </a:r>
                      <a:r>
                        <a:rPr lang="en-ID" sz="1000" dirty="0" err="1"/>
                        <a:t>pengguna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layanan</a:t>
                      </a:r>
                      <a:r>
                        <a:rPr lang="en-ID" sz="1000" dirty="0"/>
                        <a:t> MBUT.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Merancang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alur</a:t>
                      </a:r>
                      <a:r>
                        <a:rPr lang="en-ID" sz="1000" dirty="0"/>
                        <a:t> digital open–progress–closed, </a:t>
                      </a:r>
                      <a:r>
                        <a:rPr lang="en-ID" sz="1000" dirty="0" err="1"/>
                        <a:t>membangun</a:t>
                      </a:r>
                      <a:r>
                        <a:rPr lang="en-ID" sz="1000" dirty="0"/>
                        <a:t> SLA timer, auto-notification, dashboard </a:t>
                      </a:r>
                      <a:r>
                        <a:rPr lang="en-ID" sz="1000" dirty="0" err="1"/>
                        <a:t>resolusi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komplain</a:t>
                      </a:r>
                      <a:r>
                        <a:rPr lang="en-ID" sz="1000" dirty="0"/>
                        <a:t>, UAT, dan deployment.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Biaya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pengembangan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modul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komplain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notifikasi</a:t>
                      </a:r>
                      <a:r>
                        <a:rPr lang="en-ID" sz="1000" dirty="0"/>
                        <a:t>, SLA timer, </a:t>
                      </a:r>
                      <a:r>
                        <a:rPr lang="en-ID" sz="1000" dirty="0" err="1"/>
                        <a:t>serta</a:t>
                      </a:r>
                      <a:r>
                        <a:rPr lang="en-ID" sz="1000" dirty="0"/>
                        <a:t> maintenance </a:t>
                      </a:r>
                      <a:r>
                        <a:rPr lang="en-ID" sz="1000" dirty="0" err="1"/>
                        <a:t>sistem</a:t>
                      </a:r>
                      <a:r>
                        <a:rPr lang="en-ID" sz="1000" dirty="0"/>
                        <a:t>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5622">
                <a:tc>
                  <a:txBody>
                    <a:bodyPr/>
                    <a:lstStyle/>
                    <a:p>
                      <a:pPr algn="ctr"/>
                      <a:r>
                        <a:rPr lang="id-ID" sz="1000" i="1">
                          <a:latin typeface="Calibri" panose="020F0502020204030204" charset="0"/>
                          <a:cs typeface="Calibri" panose="020F0502020204030204" charset="0"/>
                        </a:rPr>
                        <a:t>Infrastructur</a:t>
                      </a:r>
                    </a:p>
                  </a:txBody>
                  <a:tcPr vert="vert27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kern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Solusi M3/</a:t>
                      </a:r>
                      <a:r>
                        <a:rPr lang="id-ID" sz="1000" b="0" i="0" u="none" strike="noStrike" kern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I</a:t>
                      </a:r>
                      <a:r>
                        <a:rPr lang="en-US" sz="1000" b="0" i="0" u="none" strike="noStrike" kern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2 </a:t>
                      </a:r>
                      <a:r>
                        <a:rPr lang="en-ID" sz="1000" dirty="0" err="1"/>
                        <a:t>Untuk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menyediakan</a:t>
                      </a:r>
                      <a:r>
                        <a:rPr lang="en-ID" sz="1000" dirty="0"/>
                        <a:t> platform digital </a:t>
                      </a:r>
                      <a:r>
                        <a:rPr lang="en-ID" sz="1000" dirty="0" err="1"/>
                        <a:t>terintegrasi</a:t>
                      </a:r>
                      <a:r>
                        <a:rPr lang="en-ID" sz="1000" dirty="0"/>
                        <a:t> yang </a:t>
                      </a:r>
                      <a:r>
                        <a:rPr lang="en-ID" sz="1000" dirty="0" err="1"/>
                        <a:t>memuat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komplain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kehadiran</a:t>
                      </a:r>
                      <a:r>
                        <a:rPr lang="en-ID" sz="1000" dirty="0"/>
                        <a:t> manpower, </a:t>
                      </a:r>
                      <a:r>
                        <a:rPr lang="en-ID" sz="1000" dirty="0" err="1"/>
                        <a:t>laporan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aktivitas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kontrak</a:t>
                      </a:r>
                      <a:r>
                        <a:rPr lang="en-ID" sz="1000" dirty="0"/>
                        <a:t>, dan billing </a:t>
                      </a:r>
                      <a:r>
                        <a:rPr lang="en-ID" sz="1000" dirty="0" err="1"/>
                        <a:t>secara</a:t>
                      </a:r>
                      <a:r>
                        <a:rPr lang="en-ID" sz="1000" dirty="0"/>
                        <a:t> real-time </a:t>
                      </a:r>
                      <a:r>
                        <a:rPr lang="en-ID" sz="1000" dirty="0" err="1"/>
                        <a:t>dalam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satu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ekosistem</a:t>
                      </a:r>
                      <a:r>
                        <a:rPr lang="en-ID" sz="1000" dirty="0"/>
                        <a:t>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Mengembangkan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aplikasi</a:t>
                      </a:r>
                      <a:r>
                        <a:rPr lang="en-ID" sz="1000" dirty="0"/>
                        <a:t> web </a:t>
                      </a:r>
                      <a:r>
                        <a:rPr lang="en-ID" sz="1000" dirty="0" err="1"/>
                        <a:t>HaloMitra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sebagai</a:t>
                      </a:r>
                      <a:r>
                        <a:rPr lang="en-ID" sz="1000" dirty="0"/>
                        <a:t> platform Customer Care </a:t>
                      </a:r>
                      <a:r>
                        <a:rPr lang="en-ID" sz="1000" dirty="0" err="1"/>
                        <a:t>Center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terpusat</a:t>
                      </a:r>
                      <a:r>
                        <a:rPr lang="en-ID" sz="1000" dirty="0"/>
                        <a:t>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Dimulai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sejak</a:t>
                      </a:r>
                      <a:r>
                        <a:rPr lang="en-ID" sz="1000" dirty="0"/>
                        <a:t> </a:t>
                      </a:r>
                      <a:r>
                        <a:rPr lang="en-ID" sz="1000" b="1" dirty="0"/>
                        <a:t>Q1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pengembangan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bertahap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hingga</a:t>
                      </a:r>
                      <a:r>
                        <a:rPr lang="en-ID" sz="1000" dirty="0"/>
                        <a:t> </a:t>
                      </a:r>
                      <a:r>
                        <a:rPr lang="en-ID" sz="1000" b="1" dirty="0"/>
                        <a:t>Q4</a:t>
                      </a:r>
                      <a:r>
                        <a:rPr lang="en-ID" sz="1000" dirty="0"/>
                        <a:t>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Business Development &amp; Marketing &amp; Tim IT Development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Tim </a:t>
                      </a:r>
                      <a:r>
                        <a:rPr lang="en-US" sz="1000" dirty="0" err="1"/>
                        <a:t>terlibat</a:t>
                      </a:r>
                      <a:r>
                        <a:rPr lang="en-US" sz="1000" dirty="0"/>
                        <a:t>: IT Dev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Pengembangan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dilakukan</a:t>
                      </a:r>
                      <a:r>
                        <a:rPr lang="en-ID" sz="1000" dirty="0"/>
                        <a:t> di </a:t>
                      </a:r>
                      <a:r>
                        <a:rPr lang="en-ID" sz="1000" dirty="0" err="1"/>
                        <a:t>kantor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pusat</a:t>
                      </a:r>
                      <a:r>
                        <a:rPr lang="en-ID" sz="1000" dirty="0"/>
                        <a:t>; </a:t>
                      </a:r>
                      <a:r>
                        <a:rPr lang="en-ID" sz="1000" dirty="0" err="1"/>
                        <a:t>implementasi</a:t>
                      </a:r>
                      <a:r>
                        <a:rPr lang="en-ID" sz="1000" dirty="0"/>
                        <a:t> di </a:t>
                      </a:r>
                      <a:r>
                        <a:rPr lang="en-ID" sz="1000" dirty="0" err="1"/>
                        <a:t>seluruh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cabang</a:t>
                      </a:r>
                      <a:r>
                        <a:rPr lang="en-ID" sz="1000" dirty="0"/>
                        <a:t> dan site.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Analisis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kebutuhan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desain</a:t>
                      </a:r>
                      <a:r>
                        <a:rPr lang="en-ID" sz="1000" dirty="0"/>
                        <a:t> UI/UX, </a:t>
                      </a:r>
                      <a:r>
                        <a:rPr lang="en-ID" sz="1000" dirty="0" err="1"/>
                        <a:t>pengembangan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modul</a:t>
                      </a:r>
                      <a:r>
                        <a:rPr lang="en-ID" sz="1000" dirty="0"/>
                        <a:t> (complain, presence, activity, billing), </a:t>
                      </a:r>
                      <a:r>
                        <a:rPr lang="en-ID" sz="1000" dirty="0" err="1"/>
                        <a:t>integrasi</a:t>
                      </a:r>
                      <a:r>
                        <a:rPr lang="en-ID" sz="1000" dirty="0"/>
                        <a:t> data, testing, go-live, </a:t>
                      </a:r>
                      <a:r>
                        <a:rPr lang="en-ID" sz="1000" dirty="0" err="1"/>
                        <a:t>serta</a:t>
                      </a:r>
                      <a:r>
                        <a:rPr lang="en-ID" sz="1000" dirty="0"/>
                        <a:t> monitoring dan </a:t>
                      </a:r>
                      <a:r>
                        <a:rPr lang="en-ID" sz="1000" dirty="0" err="1"/>
                        <a:t>perbaikan</a:t>
                      </a:r>
                      <a:r>
                        <a:rPr lang="en-ID" sz="1000" dirty="0"/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 err="1"/>
                        <a:t>Biaya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pengembangan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aplikasi</a:t>
                      </a:r>
                      <a:r>
                        <a:rPr lang="en-ID" sz="1000" dirty="0"/>
                        <a:t>, server, </a:t>
                      </a:r>
                      <a:r>
                        <a:rPr lang="en-ID" sz="1000" dirty="0" err="1"/>
                        <a:t>integrasi</a:t>
                      </a:r>
                      <a:r>
                        <a:rPr lang="en-ID" sz="1000" dirty="0"/>
                        <a:t> data, uji </a:t>
                      </a:r>
                      <a:r>
                        <a:rPr lang="en-ID" sz="1000" dirty="0" err="1"/>
                        <a:t>sistem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pelatihan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pengguna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serta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biaya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operasional</a:t>
                      </a:r>
                      <a:r>
                        <a:rPr lang="en-ID" sz="1000" dirty="0"/>
                        <a:t> platform.</a:t>
                      </a:r>
                      <a:endParaRPr lang="id-ID" sz="10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3" y="-203359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8" y="-78668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027238" y="533401"/>
            <a:ext cx="8183563" cy="714375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id-ID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5. Perencanaan</a:t>
            </a:r>
          </a:p>
        </p:txBody>
      </p:sp>
      <p:sp>
        <p:nvSpPr>
          <p:cNvPr id="5" name="Text Box 733"/>
          <p:cNvSpPr txBox="1">
            <a:spLocks noChangeArrowheads="1"/>
          </p:cNvSpPr>
          <p:nvPr/>
        </p:nvSpPr>
        <p:spPr bwMode="auto">
          <a:xfrm>
            <a:off x="3131565" y="1584438"/>
            <a:ext cx="68389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id-ID" sz="1200" dirty="0"/>
              <a:t>Struktur organisasi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id-ID" sz="1200" dirty="0"/>
              <a:t>mengacu pada PIC yg ditetapkan saat 5W2H sebelumnya </a:t>
            </a:r>
            <a:endParaRPr lang="en-US" sz="120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490773530"/>
              </p:ext>
            </p:extLst>
          </p:nvPr>
        </p:nvGraphicFramePr>
        <p:xfrm>
          <a:off x="1955801" y="1514475"/>
          <a:ext cx="8455025" cy="4535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2" descr="pt bakti optima cateri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8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828801" y="381001"/>
            <a:ext cx="8183563" cy="714375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id-ID" b="1" dirty="0"/>
              <a:t>5. Perencanaan</a:t>
            </a:r>
          </a:p>
        </p:txBody>
      </p:sp>
      <p:sp>
        <p:nvSpPr>
          <p:cNvPr id="5" name="Text Box 733"/>
          <p:cNvSpPr txBox="1">
            <a:spLocks noChangeArrowheads="1"/>
          </p:cNvSpPr>
          <p:nvPr/>
        </p:nvSpPr>
        <p:spPr bwMode="auto">
          <a:xfrm>
            <a:off x="1992313" y="1223959"/>
            <a:ext cx="63357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200" dirty="0" err="1"/>
              <a:t>Tabel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id-ID" sz="1200" dirty="0"/>
              <a:t>mengacu pada jadwal yg ditetapkan saat 5W2H sebelumnya </a:t>
            </a:r>
            <a:endParaRPr lang="en-US" sz="1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92313" y="1585682"/>
          <a:ext cx="8294686" cy="5231136"/>
        </p:xfrm>
        <a:graphic>
          <a:graphicData uri="http://schemas.openxmlformats.org/drawingml/2006/table">
            <a:tbl>
              <a:tblPr/>
              <a:tblGrid>
                <a:gridCol w="384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1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6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56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5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10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56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1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317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06388"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Activity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Bulan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PIC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Jan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Feb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Apr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Mei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Jun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Jul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Agt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Sep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 Pemetaan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2. Target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3. Eksplorasi Ide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4. Perencanaan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88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5. Implementasi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Solusi 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 Activity P1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 Activity P1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Solusi M3/I2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 Activity M3/I2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 Activity M3/I2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6. Review Hasil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7. Standarisasi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id-ID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7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id-ID" b="1" dirty="0"/>
              <a:t>6. Implementasi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820864" y="1295400"/>
            <a:ext cx="8523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200" dirty="0" err="1"/>
              <a:t>Jelaskan</a:t>
            </a:r>
            <a:r>
              <a:rPr lang="en-US" sz="1200" dirty="0"/>
              <a:t> </a:t>
            </a:r>
            <a:r>
              <a:rPr lang="en-US" sz="1200" dirty="0" err="1"/>
              <a:t>bagaimana</a:t>
            </a:r>
            <a:r>
              <a:rPr lang="en-US" sz="1200" dirty="0"/>
              <a:t> </a:t>
            </a:r>
            <a:r>
              <a:rPr lang="en-US" sz="1200" dirty="0" err="1"/>
              <a:t>pelaksanaan</a:t>
            </a:r>
            <a:r>
              <a:rPr lang="en-US" sz="1200" dirty="0"/>
              <a:t> </a:t>
            </a:r>
            <a:r>
              <a:rPr lang="en-US" sz="1200" dirty="0" err="1"/>
              <a:t>perbaikan</a:t>
            </a:r>
            <a:r>
              <a:rPr lang="en-US" sz="1200" dirty="0"/>
              <a:t>, </a:t>
            </a:r>
            <a:r>
              <a:rPr lang="en-US" sz="1200" dirty="0" err="1"/>
              <a:t>fakta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</a:t>
            </a:r>
            <a:r>
              <a:rPr lang="en-US" sz="1200" dirty="0" err="1"/>
              <a:t>perbaikan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usaha</a:t>
            </a:r>
            <a:r>
              <a:rPr lang="en-US" sz="1200" dirty="0"/>
              <a:t> </a:t>
            </a:r>
            <a:r>
              <a:rPr lang="en-US" sz="1200" dirty="0" err="1"/>
              <a:t>apa</a:t>
            </a:r>
            <a:r>
              <a:rPr lang="en-US" sz="1200" dirty="0"/>
              <a:t> </a:t>
            </a:r>
            <a:r>
              <a:rPr lang="en-US" sz="1200" dirty="0" err="1"/>
              <a:t>saja</a:t>
            </a:r>
            <a:r>
              <a:rPr lang="en-US" sz="1200" dirty="0"/>
              <a:t> yang </a:t>
            </a:r>
            <a:r>
              <a:rPr lang="en-US" sz="1200" dirty="0" err="1"/>
              <a:t>telah</a:t>
            </a:r>
            <a:r>
              <a:rPr lang="en-US" sz="1200" dirty="0"/>
              <a:t> </a:t>
            </a:r>
            <a:r>
              <a:rPr lang="en-US" sz="1200" dirty="0" err="1"/>
              <a:t>dilakukan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tim</a:t>
            </a:r>
            <a:r>
              <a:rPr lang="en-US" sz="1200" dirty="0"/>
              <a:t> di </a:t>
            </a:r>
            <a:r>
              <a:rPr lang="en-US" sz="1200" dirty="0" err="1"/>
              <a:t>setiap</a:t>
            </a:r>
            <a:r>
              <a:rPr lang="en-US" sz="1200" dirty="0"/>
              <a:t> </a:t>
            </a:r>
            <a:r>
              <a:rPr lang="en-US" sz="1200" dirty="0" err="1"/>
              <a:t>langkah</a:t>
            </a:r>
            <a:r>
              <a:rPr lang="en-US" sz="1200" dirty="0"/>
              <a:t> </a:t>
            </a:r>
            <a:r>
              <a:rPr lang="en-US" sz="1200" dirty="0" err="1"/>
              <a:t>perbaikan</a:t>
            </a:r>
            <a:r>
              <a:rPr lang="en-US" sz="1200" dirty="0"/>
              <a:t>. </a:t>
            </a:r>
            <a:r>
              <a:rPr lang="en-US" sz="1200" dirty="0" err="1"/>
              <a:t>Sertakan</a:t>
            </a:r>
            <a:r>
              <a:rPr lang="en-US" sz="1200" dirty="0"/>
              <a:t> </a:t>
            </a:r>
            <a:r>
              <a:rPr lang="en-US" sz="1200" dirty="0" err="1"/>
              <a:t>foto-foto</a:t>
            </a:r>
            <a:r>
              <a:rPr lang="en-US" sz="1200" dirty="0"/>
              <a:t> </a:t>
            </a:r>
            <a:r>
              <a:rPr lang="en-US" sz="1200" dirty="0" err="1"/>
              <a:t>pendukung</a:t>
            </a:r>
            <a:r>
              <a:rPr lang="en-US" sz="1200" dirty="0"/>
              <a:t> </a:t>
            </a:r>
            <a:r>
              <a:rPr lang="en-US" sz="1200" dirty="0" err="1"/>
              <a:t>jika</a:t>
            </a:r>
            <a:r>
              <a:rPr lang="en-US" sz="1200" dirty="0"/>
              <a:t> </a:t>
            </a:r>
            <a:r>
              <a:rPr lang="en-US" sz="1200" dirty="0" err="1"/>
              <a:t>diperlukan</a:t>
            </a:r>
            <a:r>
              <a:rPr lang="en-US" sz="1200" dirty="0"/>
              <a:t>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8363" y="2022397"/>
            <a:ext cx="5040312" cy="19082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id-ID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 Solusi P1</a:t>
            </a:r>
          </a:p>
          <a:p>
            <a:pPr marL="176530" indent="-17653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id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Bukti-bukti Activity P1 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pelatihan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terstruktur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petugas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Handling di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cabang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site.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Pelatihan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difokuskan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penyamaan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pemahaman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SOP Customer Handling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terbaru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efektif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tata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pendokumentasian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komplain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bentuk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dan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tatap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disertai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simulasi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role-play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penanganan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komplain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peserta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mengaplikasikan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prosedur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lang="en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530" indent="-17653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id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Bukti-bukti Activity P1 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81200" y="3911952"/>
            <a:ext cx="5040312" cy="256993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id-ID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 Solusi M3/I2</a:t>
            </a:r>
          </a:p>
          <a:p>
            <a:r>
              <a:rPr lang="id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Bukti-bukti Activity M3/I2 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D" sz="1200" dirty="0"/>
              <a:t>Tim Business Development, IT Developer, dan Customer Care </a:t>
            </a:r>
            <a:r>
              <a:rPr lang="en-ID" sz="1200" dirty="0" err="1"/>
              <a:t>bekerja</a:t>
            </a:r>
            <a:r>
              <a:rPr lang="en-ID" sz="1200" dirty="0"/>
              <a:t> </a:t>
            </a:r>
            <a:r>
              <a:rPr lang="en-ID" sz="1200" dirty="0" err="1"/>
              <a:t>sama</a:t>
            </a:r>
            <a:r>
              <a:rPr lang="en-ID" sz="1200" dirty="0"/>
              <a:t> </a:t>
            </a:r>
            <a:r>
              <a:rPr lang="en-ID" sz="1200" dirty="0" err="1"/>
              <a:t>mengembangkan</a:t>
            </a:r>
            <a:r>
              <a:rPr lang="en-ID" sz="1200" dirty="0"/>
              <a:t> platform </a:t>
            </a:r>
            <a:r>
              <a:rPr lang="en-ID" sz="1200" dirty="0" err="1"/>
              <a:t>HaloMitra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pusat</a:t>
            </a:r>
            <a:r>
              <a:rPr lang="en-ID" sz="1200" dirty="0"/>
              <a:t> </a:t>
            </a:r>
            <a:r>
              <a:rPr lang="en-ID" sz="1200" dirty="0" err="1"/>
              <a:t>layanan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. Proses </a:t>
            </a:r>
            <a:r>
              <a:rPr lang="en-ID" sz="1200" dirty="0" err="1"/>
              <a:t>dimulai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analisis</a:t>
            </a:r>
            <a:r>
              <a:rPr lang="en-ID" sz="1200" dirty="0"/>
              <a:t> </a:t>
            </a:r>
            <a:r>
              <a:rPr lang="en-ID" sz="1200" dirty="0" err="1"/>
              <a:t>kebutuhan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, </a:t>
            </a:r>
            <a:r>
              <a:rPr lang="en-ID" sz="1200" dirty="0" err="1"/>
              <a:t>pemetaan</a:t>
            </a:r>
            <a:r>
              <a:rPr lang="en-ID" sz="1200" dirty="0"/>
              <a:t> </a:t>
            </a:r>
            <a:r>
              <a:rPr lang="en-ID" sz="1200" dirty="0" err="1"/>
              <a:t>alur</a:t>
            </a:r>
            <a:r>
              <a:rPr lang="en-ID" sz="1200" dirty="0"/>
              <a:t> open–progress–closed, dan </a:t>
            </a:r>
            <a:r>
              <a:rPr lang="en-ID" sz="1200" dirty="0" err="1"/>
              <a:t>penyusunan</a:t>
            </a:r>
            <a:r>
              <a:rPr lang="en-ID" sz="1200" dirty="0"/>
              <a:t> requirement </a:t>
            </a:r>
            <a:r>
              <a:rPr lang="en-ID" sz="1200" dirty="0" err="1"/>
              <a:t>teknis</a:t>
            </a:r>
            <a:r>
              <a:rPr lang="en-ID" sz="1200" dirty="0"/>
              <a:t>. UI/UX </a:t>
            </a:r>
            <a:r>
              <a:rPr lang="en-ID" sz="1200" dirty="0" err="1"/>
              <a:t>dirancang</a:t>
            </a:r>
            <a:r>
              <a:rPr lang="en-ID" sz="1200" dirty="0"/>
              <a:t> agar </a:t>
            </a:r>
            <a:r>
              <a:rPr lang="en-ID" sz="1200" dirty="0" err="1"/>
              <a:t>mudah</a:t>
            </a:r>
            <a:r>
              <a:rPr lang="en-ID" sz="1200" dirty="0"/>
              <a:t> </a:t>
            </a:r>
            <a:r>
              <a:rPr lang="en-ID" sz="1200" dirty="0" err="1"/>
              <a:t>diakses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 dan </a:t>
            </a:r>
            <a:r>
              <a:rPr lang="en-ID" sz="1200" dirty="0" err="1"/>
              <a:t>staf</a:t>
            </a:r>
            <a:r>
              <a:rPr lang="en-ID" sz="1200" dirty="0"/>
              <a:t> internal.</a:t>
            </a:r>
          </a:p>
          <a:p>
            <a:r>
              <a:rPr lang="en-ID" sz="1200" dirty="0" err="1"/>
              <a:t>Pengembangan</a:t>
            </a:r>
            <a:r>
              <a:rPr lang="en-ID" sz="1200" dirty="0"/>
              <a:t> </a:t>
            </a:r>
            <a:r>
              <a:rPr lang="en-ID" sz="1200" dirty="0" err="1"/>
              <a:t>dilakukan</a:t>
            </a:r>
            <a:r>
              <a:rPr lang="en-ID" sz="1200" dirty="0"/>
              <a:t> </a:t>
            </a:r>
            <a:r>
              <a:rPr lang="en-ID" sz="1200" dirty="0" err="1"/>
              <a:t>bertahap</a:t>
            </a:r>
            <a:r>
              <a:rPr lang="en-ID" sz="1200" dirty="0"/>
              <a:t> </a:t>
            </a:r>
            <a:r>
              <a:rPr lang="en-ID" sz="1200" dirty="0" err="1"/>
              <a:t>mulai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modul</a:t>
            </a:r>
            <a:r>
              <a:rPr lang="en-ID" sz="1200" dirty="0"/>
              <a:t> Complain </a:t>
            </a:r>
            <a:r>
              <a:rPr lang="en-ID" sz="1200" dirty="0" err="1"/>
              <a:t>Center</a:t>
            </a:r>
            <a:r>
              <a:rPr lang="en-ID" sz="1200" dirty="0"/>
              <a:t>, </a:t>
            </a:r>
            <a:r>
              <a:rPr lang="en-ID" sz="1200" dirty="0" err="1"/>
              <a:t>kemudian</a:t>
            </a:r>
            <a:r>
              <a:rPr lang="en-ID" sz="1200" dirty="0"/>
              <a:t> </a:t>
            </a:r>
            <a:r>
              <a:rPr lang="en-ID" sz="1200" dirty="0" err="1"/>
              <a:t>modul</a:t>
            </a:r>
            <a:r>
              <a:rPr lang="en-ID" sz="1200" dirty="0"/>
              <a:t> Manpower Preview, Activity Report, </a:t>
            </a:r>
            <a:r>
              <a:rPr lang="en-ID" sz="1200" dirty="0" err="1"/>
              <a:t>hingga</a:t>
            </a:r>
            <a:r>
              <a:rPr lang="en-ID" sz="1200" dirty="0"/>
              <a:t> </a:t>
            </a:r>
            <a:r>
              <a:rPr lang="en-ID" sz="1200" dirty="0" err="1"/>
              <a:t>modul</a:t>
            </a:r>
            <a:r>
              <a:rPr lang="en-ID" sz="1200" dirty="0"/>
              <a:t> Billing &amp; Contract Preview. </a:t>
            </a:r>
            <a:r>
              <a:rPr lang="en-ID" sz="1200" dirty="0" err="1"/>
              <a:t>Setiap</a:t>
            </a:r>
            <a:r>
              <a:rPr lang="en-ID" sz="1200" dirty="0"/>
              <a:t> </a:t>
            </a:r>
            <a:r>
              <a:rPr lang="en-ID" sz="1200" dirty="0" err="1"/>
              <a:t>fitur</a:t>
            </a:r>
            <a:r>
              <a:rPr lang="en-ID" sz="1200" dirty="0"/>
              <a:t> </a:t>
            </a:r>
            <a:r>
              <a:rPr lang="en-ID" sz="1200" dirty="0" err="1"/>
              <a:t>diuji</a:t>
            </a:r>
            <a:r>
              <a:rPr lang="en-ID" sz="1200" dirty="0"/>
              <a:t> </a:t>
            </a:r>
            <a:r>
              <a:rPr lang="en-ID" sz="1200" dirty="0" err="1"/>
              <a:t>melalui</a:t>
            </a:r>
            <a:r>
              <a:rPr lang="en-ID" sz="1200" dirty="0"/>
              <a:t> User Acceptance Test (UAT) </a:t>
            </a:r>
            <a:r>
              <a:rPr lang="en-ID" sz="1200" dirty="0" err="1"/>
              <a:t>bersama</a:t>
            </a:r>
            <a:r>
              <a:rPr lang="en-ID" sz="1200" dirty="0"/>
              <a:t> </a:t>
            </a:r>
            <a:r>
              <a:rPr lang="en-ID" sz="1200" dirty="0" err="1"/>
              <a:t>perwakilan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cabang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memastikan</a:t>
            </a:r>
            <a:r>
              <a:rPr lang="en-ID" sz="1200" dirty="0"/>
              <a:t> </a:t>
            </a:r>
            <a:r>
              <a:rPr lang="en-ID" sz="1200" dirty="0" err="1"/>
              <a:t>sistem</a:t>
            </a:r>
            <a:r>
              <a:rPr lang="en-ID" sz="1200" dirty="0"/>
              <a:t> </a:t>
            </a:r>
            <a:r>
              <a:rPr lang="en-ID" sz="1200" dirty="0" err="1"/>
              <a:t>bekerja</a:t>
            </a:r>
            <a:r>
              <a:rPr lang="en-ID" sz="1200" dirty="0"/>
              <a:t> </a:t>
            </a:r>
            <a:r>
              <a:rPr lang="en-ID" sz="1200" dirty="0" err="1"/>
              <a:t>sesuai</a:t>
            </a:r>
            <a:r>
              <a:rPr lang="en-ID" sz="1200" dirty="0"/>
              <a:t> </a:t>
            </a:r>
            <a:r>
              <a:rPr lang="en-ID" sz="1200" dirty="0" err="1"/>
              <a:t>kebutuhan</a:t>
            </a:r>
            <a:r>
              <a:rPr lang="en-ID" sz="1200" dirty="0"/>
              <a:t>. </a:t>
            </a:r>
            <a:r>
              <a:rPr lang="en-ID" sz="1200" dirty="0" err="1"/>
              <a:t>Setelah</a:t>
            </a:r>
            <a:r>
              <a:rPr lang="en-ID" sz="1200" dirty="0"/>
              <a:t> UAT </a:t>
            </a:r>
            <a:r>
              <a:rPr lang="en-ID" sz="1200" dirty="0" err="1"/>
              <a:t>disetujui</a:t>
            </a:r>
            <a:r>
              <a:rPr lang="en-ID" sz="1200" dirty="0"/>
              <a:t>, </a:t>
            </a:r>
            <a:r>
              <a:rPr lang="en-ID" sz="1200" dirty="0" err="1"/>
              <a:t>sistem</a:t>
            </a:r>
            <a:r>
              <a:rPr lang="en-ID" sz="1200" dirty="0"/>
              <a:t> di-</a:t>
            </a:r>
            <a:r>
              <a:rPr lang="en-ID" sz="1200" i="1" dirty="0"/>
              <a:t>deploy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bertahap</a:t>
            </a:r>
            <a:r>
              <a:rPr lang="en-ID" sz="1200" dirty="0"/>
              <a:t> dan </a:t>
            </a:r>
            <a:r>
              <a:rPr lang="en-ID" sz="1200" dirty="0" err="1"/>
              <a:t>dilakukan</a:t>
            </a:r>
            <a:r>
              <a:rPr lang="en-ID" sz="1200" dirty="0"/>
              <a:t> </a:t>
            </a:r>
            <a:r>
              <a:rPr lang="en-ID" sz="1200" dirty="0" err="1"/>
              <a:t>pendampingan</a:t>
            </a:r>
            <a:r>
              <a:rPr lang="en-ID" sz="1200" dirty="0"/>
              <a:t> </a:t>
            </a:r>
            <a:r>
              <a:rPr lang="en-ID" sz="1200" dirty="0" err="1"/>
              <a:t>saat</a:t>
            </a:r>
            <a:r>
              <a:rPr lang="en-ID" sz="1200" dirty="0"/>
              <a:t> go-live.</a:t>
            </a:r>
            <a:endParaRPr lang="id-I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530" indent="-17653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id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Bukti-bukti Activity M3/I2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4304" y="1992314"/>
            <a:ext cx="3097213" cy="223202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2"/>
            </a:solidFill>
            <a:miter lim="800000"/>
          </a:ln>
        </p:spPr>
        <p:txBody>
          <a:bodyPr anchor="b"/>
          <a:lstStyle/>
          <a:p>
            <a:pPr algn="r">
              <a:defRPr/>
            </a:pPr>
            <a:r>
              <a:rPr lang="id-ID" sz="1200"/>
              <a:t>Foto-foto kegiatan/</a:t>
            </a:r>
          </a:p>
          <a:p>
            <a:pPr algn="r">
              <a:defRPr/>
            </a:pPr>
            <a:r>
              <a:rPr lang="id-ID" sz="1200"/>
              <a:t>dokumen yang dihasilkan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87572" y="4572001"/>
            <a:ext cx="3097213" cy="223202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2"/>
            </a:solidFill>
            <a:miter lim="800000"/>
          </a:ln>
        </p:spPr>
        <p:txBody>
          <a:bodyPr anchor="b"/>
          <a:lstStyle/>
          <a:p>
            <a:pPr algn="r">
              <a:defRPr/>
            </a:pPr>
            <a:r>
              <a:rPr lang="id-ID" sz="1200"/>
              <a:t>Foto-foto kegiatan/</a:t>
            </a:r>
          </a:p>
          <a:p>
            <a:pPr algn="r">
              <a:defRPr/>
            </a:pPr>
            <a:r>
              <a:rPr lang="id-ID" sz="1200"/>
              <a:t>dokumen yang dihasilkan</a:t>
            </a:r>
          </a:p>
        </p:txBody>
      </p:sp>
      <p:pic>
        <p:nvPicPr>
          <p:cNvPr id="12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  <p:pic>
        <p:nvPicPr>
          <p:cNvPr id="3" name="Gambar 2">
            <a:extLst>
              <a:ext uri="{FF2B5EF4-FFF2-40B4-BE49-F238E27FC236}">
                <a16:creationId xmlns:a16="http://schemas.microsoft.com/office/drawing/2014/main" id="{867B0BCE-3761-0EC6-79A2-47944E222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875" y="2100262"/>
            <a:ext cx="2834069" cy="1594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185540"/>
            <a:ext cx="8229600" cy="49383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id-ID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Review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57118" y="572455"/>
            <a:ext cx="29263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Result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Project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57118" y="801456"/>
            <a:ext cx="85963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Tuliskan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target</a:t>
            </a:r>
            <a:r>
              <a:rPr lang="id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kondisi sebelum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bentuk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diagram </a:t>
            </a:r>
            <a:r>
              <a:rPr lang="id-I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atau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foto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233065"/>
              </p:ext>
            </p:extLst>
          </p:nvPr>
        </p:nvGraphicFramePr>
        <p:xfrm>
          <a:off x="765106" y="1091947"/>
          <a:ext cx="10580915" cy="1248093"/>
        </p:xfrm>
        <a:graphic>
          <a:graphicData uri="http://schemas.openxmlformats.org/drawingml/2006/table">
            <a:tbl>
              <a:tblPr/>
              <a:tblGrid>
                <a:gridCol w="3256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1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7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5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Hasil Improvement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Target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1193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 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Keluhan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tercatat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banyak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missed issue,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SLA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jelas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lambat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Tersedianya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tunggal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penanganan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keluhan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SLA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terukur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SLA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tercapai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85%,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waktu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lebih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cepat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40%,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keluhan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tercatat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1193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Solusi M3/</a:t>
                      </a:r>
                      <a:r>
                        <a:rPr kumimoji="0" lang="id-ID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tracking real-time,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pelanggan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sering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follow-up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berkali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-kali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Pelanggan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dapat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memonitor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progres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via dashboard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HaloMitra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Tracking real-time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aktif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follow-up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pelanggan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turun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799763"/>
              </p:ext>
            </p:extLst>
          </p:nvPr>
        </p:nvGraphicFramePr>
        <p:xfrm>
          <a:off x="765106" y="2433478"/>
          <a:ext cx="10580915" cy="1219200"/>
        </p:xfrm>
        <a:graphic>
          <a:graphicData uri="http://schemas.openxmlformats.org/drawingml/2006/table">
            <a:tbl>
              <a:tblPr/>
              <a:tblGrid>
                <a:gridCol w="3228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 Financial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Bagi Institusi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 Project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Target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11938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Efisiensi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biaya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operasional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Biaya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tinggi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karena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keluhan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sering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berulang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terdokumentasi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Menurunkan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biaya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eskalasi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penanganan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berulang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Efisiensi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biaya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hingga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25%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akibat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berkurangnya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rework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11938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Produktivitas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SDM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Banyak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waktu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terbuang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menelusuri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keluhan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i-FI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Penyederhanaan alur kerja &amp; otomatisasi pencatatan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Produktivitas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admin </a:t>
                      </a:r>
                      <a:r>
                        <a:rPr lang="en-ID" sz="1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r>
                        <a:rPr lang="en-ID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naik 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Group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353620"/>
              </p:ext>
            </p:extLst>
          </p:nvPr>
        </p:nvGraphicFramePr>
        <p:xfrm>
          <a:off x="438539" y="3746116"/>
          <a:ext cx="11616613" cy="3017520"/>
        </p:xfrm>
        <a:graphic>
          <a:graphicData uri="http://schemas.openxmlformats.org/drawingml/2006/table">
            <a:tbl>
              <a:tblPr/>
              <a:tblGrid>
                <a:gridCol w="1966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3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6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4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5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18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  Non Financial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Customer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Institusi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Sebelum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Sesu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Sebelum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Sesudah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26">
                <a:tc>
                  <a:txBody>
                    <a:bodyPr/>
                    <a:lstStyle/>
                    <a:p>
                      <a:pPr marL="1193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Keluhan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terpantau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konsisten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seragam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semua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cabang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kualitas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terukur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(dashboard QA)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/>
                        <a:t>Tidak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ada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standardisasi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tiap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cabang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berbeda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/>
                        <a:t>Standar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layanan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nasional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melalui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HaloMitra</a:t>
                      </a:r>
                      <a:r>
                        <a:rPr lang="en-ID" sz="1000" dirty="0"/>
                        <a:t> (consistency)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307">
                <a:tc>
                  <a:txBody>
                    <a:bodyPr/>
                    <a:lstStyle/>
                    <a:p>
                      <a:pPr marL="1193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Pelanggan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banyak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menghabiskan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waktu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follow-up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Hemat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waktu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perlu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follow-up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berulang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/>
                        <a:t>Banyak rework &amp; duplicate work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/>
                        <a:t>Penghematan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operasional</a:t>
                      </a:r>
                      <a:r>
                        <a:rPr lang="en-ID" sz="1000" dirty="0"/>
                        <a:t> 20–25%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307">
                <a:tc>
                  <a:txBody>
                    <a:bodyPr/>
                    <a:lstStyle/>
                    <a:p>
                      <a:pPr marL="1193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SLA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jelas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SLA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jelas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notifikasi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otomatis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/>
                        <a:t>Tidak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ada</a:t>
                      </a:r>
                      <a:r>
                        <a:rPr lang="en-ID" sz="1000" dirty="0"/>
                        <a:t> KPI </a:t>
                      </a:r>
                      <a:r>
                        <a:rPr lang="en-ID" sz="1000" dirty="0" err="1"/>
                        <a:t>terukur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/>
                        <a:t>KPI &amp; SLA monitoring real-time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307">
                <a:tc>
                  <a:txBody>
                    <a:bodyPr/>
                    <a:lstStyle/>
                    <a:p>
                      <a:pPr marL="1193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Dokumentasi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manual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hilang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Semua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tercatat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digital &amp;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aman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it-IT" sz="1000" dirty="0"/>
                        <a:t>Data keluhan tersebar di banyak channel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/>
                        <a:t>Data </a:t>
                      </a:r>
                      <a:r>
                        <a:rPr lang="en-ID" sz="1000" dirty="0" err="1"/>
                        <a:t>terintegrasi</a:t>
                      </a:r>
                      <a:r>
                        <a:rPr lang="en-ID" sz="1000" dirty="0"/>
                        <a:t> &amp; </a:t>
                      </a:r>
                      <a:r>
                        <a:rPr lang="en-ID" sz="1000" dirty="0" err="1"/>
                        <a:t>terenkripsi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307">
                <a:tc>
                  <a:txBody>
                    <a:bodyPr/>
                    <a:lstStyle/>
                    <a:p>
                      <a:pPr marL="1193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Morale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Pelanggan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frustrasi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Pelanggan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lebih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percaya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merasa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dihargai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/>
                        <a:t>Tim </a:t>
                      </a:r>
                      <a:r>
                        <a:rPr lang="en-ID" sz="1000" dirty="0" err="1"/>
                        <a:t>sering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kewalahan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/>
                        <a:t>Moral </a:t>
                      </a:r>
                      <a:r>
                        <a:rPr lang="en-ID" sz="1000" dirty="0" err="1"/>
                        <a:t>meningkat</a:t>
                      </a:r>
                      <a:r>
                        <a:rPr lang="en-ID" sz="1000" dirty="0"/>
                        <a:t>, </a:t>
                      </a:r>
                      <a:r>
                        <a:rPr lang="en-ID" sz="1000" dirty="0" err="1"/>
                        <a:t>beban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kerja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lebih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ringan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307">
                <a:tc>
                  <a:txBody>
                    <a:bodyPr/>
                    <a:lstStyle/>
                    <a:p>
                      <a:pPr marL="11938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d-ID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Productivity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lambat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karena</a:t>
                      </a:r>
                      <a:r>
                        <a:rPr lang="en-ID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proses manual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i-FI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Keluhan terselesaikan lebih cepat </a:t>
                      </a:r>
                      <a:r>
                        <a:rPr lang="fi-FI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/>
                        <a:t>Waktu </a:t>
                      </a:r>
                      <a:r>
                        <a:rPr lang="en-ID" sz="1000" dirty="0" err="1"/>
                        <a:t>penanganan</a:t>
                      </a:r>
                      <a:r>
                        <a:rPr lang="en-ID" sz="1000" dirty="0"/>
                        <a:t> lama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D" sz="1000" dirty="0" err="1"/>
                        <a:t>Penyelesaian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lebih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cepat</a:t>
                      </a:r>
                      <a:r>
                        <a:rPr lang="en-ID" sz="1000" dirty="0"/>
                        <a:t> 40–50%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3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0717" y="48054"/>
            <a:ext cx="1499119" cy="79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312" y="49627"/>
            <a:ext cx="1419971" cy="653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pPr algn="ctr">
              <a:defRPr/>
            </a:pPr>
            <a:r>
              <a:rPr lang="id-ID" b="1" dirty="0"/>
              <a:t>8. Standarisasi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181754"/>
              </p:ext>
            </p:extLst>
          </p:nvPr>
        </p:nvGraphicFramePr>
        <p:xfrm>
          <a:off x="2059360" y="1340768"/>
          <a:ext cx="8151440" cy="478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5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218">
                <a:tc>
                  <a:txBody>
                    <a:bodyPr/>
                    <a:lstStyle/>
                    <a:p>
                      <a:endParaRPr lang="id-ID" sz="14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Rencana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Standarisasi</a:t>
                      </a:r>
                      <a:endParaRPr lang="en-US" sz="1400" baseline="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algn="ctr"/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(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Perubahan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Kebijakan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Prosedur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Tertulis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Uraian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Pekerjaan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Pelatihan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/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Sosialisasi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</a:t>
                      </a:r>
                      <a:r>
                        <a:rPr lang="en-US" sz="1400" baseline="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dll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)</a:t>
                      </a:r>
                      <a:endParaRPr lang="id-ID" sz="14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994">
                <a:tc>
                  <a:txBody>
                    <a:bodyPr/>
                    <a:lstStyle/>
                    <a:p>
                      <a:pPr algn="ctr"/>
                      <a:r>
                        <a:rPr lang="id-ID" sz="1400" b="1" i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People</a:t>
                      </a:r>
                    </a:p>
                  </a:txBody>
                  <a:tcPr vert="vert270" anchor="ctr">
                    <a:solidFill>
                      <a:schemeClr val="bg1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ID" sz="1400" dirty="0" err="1"/>
                        <a:t>Penetapan</a:t>
                      </a:r>
                      <a:r>
                        <a:rPr lang="en-ID" sz="1400" dirty="0"/>
                        <a:t> Peran &amp; </a:t>
                      </a:r>
                      <a:r>
                        <a:rPr lang="en-ID" sz="1400" dirty="0" err="1"/>
                        <a:t>Tanggung</a:t>
                      </a:r>
                      <a:r>
                        <a:rPr lang="en-ID" sz="1400" dirty="0"/>
                        <a:t> Jawab </a:t>
                      </a:r>
                      <a:r>
                        <a:rPr lang="en-ID" sz="1400" dirty="0" err="1"/>
                        <a:t>Baru</a:t>
                      </a:r>
                      <a:endParaRPr lang="en-ID" sz="14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ID" sz="1400" dirty="0" err="1"/>
                        <a:t>Pelatihan</a:t>
                      </a:r>
                      <a:r>
                        <a:rPr lang="en-ID" sz="1400" dirty="0"/>
                        <a:t> &amp; </a:t>
                      </a:r>
                      <a:r>
                        <a:rPr lang="en-ID" sz="1400" dirty="0" err="1"/>
                        <a:t>Sertifikasi</a:t>
                      </a:r>
                      <a:endParaRPr lang="en-ID" sz="14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ID" sz="1400" dirty="0" err="1"/>
                        <a:t>Standardisasi</a:t>
                      </a:r>
                      <a:r>
                        <a:rPr lang="en-ID" sz="1400" dirty="0"/>
                        <a:t> Cara </a:t>
                      </a:r>
                      <a:r>
                        <a:rPr lang="en-ID" sz="1400" dirty="0" err="1"/>
                        <a:t>Berkomunikasi</a:t>
                      </a:r>
                      <a:endParaRPr lang="en-US" sz="14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8241">
                <a:tc>
                  <a:txBody>
                    <a:bodyPr/>
                    <a:lstStyle/>
                    <a:p>
                      <a:pPr algn="ctr"/>
                      <a:r>
                        <a:rPr lang="id-ID" sz="1400" b="1" i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Process</a:t>
                      </a:r>
                      <a:r>
                        <a:rPr lang="en-US" sz="1400" b="1" i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/</a:t>
                      </a:r>
                    </a:p>
                    <a:p>
                      <a:pPr algn="ctr"/>
                      <a:r>
                        <a:rPr lang="en-US" sz="1400" b="1" i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Method</a:t>
                      </a:r>
                      <a:endParaRPr lang="id-ID" sz="1400" b="1" i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vert="vert270" anchor="ctr">
                    <a:solidFill>
                      <a:schemeClr val="bg1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fi-FI" sz="1400" dirty="0"/>
                        <a:t>Penyusunan SOP Penanganan Keluhan Terintegrasi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D" sz="1400" dirty="0" err="1"/>
                        <a:t>Standardisasi</a:t>
                      </a:r>
                      <a:r>
                        <a:rPr lang="en-ID" sz="1400" dirty="0"/>
                        <a:t> Alur </a:t>
                      </a:r>
                      <a:r>
                        <a:rPr lang="en-ID" sz="1400" dirty="0" err="1"/>
                        <a:t>Pelaporan</a:t>
                      </a:r>
                      <a:endParaRPr lang="en-ID" sz="14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D" sz="1400" dirty="0" err="1"/>
                        <a:t>Evaluasi</a:t>
                      </a:r>
                      <a:r>
                        <a:rPr lang="en-ID" sz="1400" dirty="0"/>
                        <a:t> Kinerja </a:t>
                      </a:r>
                      <a:r>
                        <a:rPr lang="en-ID" sz="1400" dirty="0" err="1"/>
                        <a:t>Bulanan</a:t>
                      </a:r>
                      <a:endParaRPr lang="id-ID" sz="14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1159">
                <a:tc>
                  <a:txBody>
                    <a:bodyPr/>
                    <a:lstStyle/>
                    <a:p>
                      <a:pPr algn="ctr"/>
                      <a:r>
                        <a:rPr lang="id-ID" sz="1400" b="1" i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Infrastructur</a:t>
                      </a:r>
                      <a:r>
                        <a:rPr lang="en-US" sz="1400" b="1" i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</a:p>
                  </a:txBody>
                  <a:tcPr vert="vert270" anchor="ctr">
                    <a:solidFill>
                      <a:schemeClr val="bg1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D" sz="1400" dirty="0" err="1"/>
                        <a:t>Sistem</a:t>
                      </a:r>
                      <a:r>
                        <a:rPr lang="en-ID" sz="1400" dirty="0"/>
                        <a:t> &amp; Tools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D" sz="1400" dirty="0" err="1"/>
                        <a:t>Infrastruktur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Pendukung</a:t>
                      </a:r>
                      <a:endParaRPr lang="en-ID" sz="14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D" sz="1400" dirty="0" err="1"/>
                        <a:t>Keamanan</a:t>
                      </a:r>
                      <a:r>
                        <a:rPr lang="en-ID" sz="1400" dirty="0"/>
                        <a:t> Data &amp; </a:t>
                      </a:r>
                      <a:r>
                        <a:rPr lang="en-ID" sz="1400" dirty="0" err="1"/>
                        <a:t>Akses</a:t>
                      </a:r>
                      <a:endParaRPr lang="id-ID" sz="14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-1579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-33236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942433" y="684589"/>
            <a:ext cx="8183563" cy="71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id-ID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Langkah Selanjutnya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956722" y="1544669"/>
            <a:ext cx="33924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id-ID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Identifikasi Potensi Kegagalan</a:t>
            </a:r>
          </a:p>
        </p:txBody>
      </p:sp>
      <p:sp>
        <p:nvSpPr>
          <p:cNvPr id="6" name="Text Box 26"/>
          <p:cNvSpPr txBox="1">
            <a:spLocks noChangeArrowheads="1"/>
          </p:cNvSpPr>
          <p:nvPr/>
        </p:nvSpPr>
        <p:spPr bwMode="auto">
          <a:xfrm>
            <a:off x="1942433" y="1788392"/>
            <a:ext cx="8294688" cy="277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lemah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perbaikan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54"/>
          <p:cNvSpPr txBox="1">
            <a:spLocks noChangeArrowheads="1"/>
          </p:cNvSpPr>
          <p:nvPr/>
        </p:nvSpPr>
        <p:spPr bwMode="auto">
          <a:xfrm>
            <a:off x="1930399" y="3081384"/>
            <a:ext cx="48006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Penetapan</a:t>
            </a:r>
            <a:r>
              <a:rPr lang="en-US" sz="1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Rencana</a:t>
            </a:r>
            <a:r>
              <a:rPr lang="en-US" sz="1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Selanjutnya</a:t>
            </a:r>
            <a:r>
              <a:rPr lang="en-US" sz="1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9" name="Text Box 55"/>
          <p:cNvSpPr txBox="1">
            <a:spLocks noChangeArrowheads="1"/>
          </p:cNvSpPr>
          <p:nvPr/>
        </p:nvSpPr>
        <p:spPr bwMode="auto">
          <a:xfrm>
            <a:off x="1930400" y="3362072"/>
            <a:ext cx="82946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Menentukan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ruang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perbaikan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selanjutnya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dengan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: Brainstorming, Check – Sheet , Stratification, Pareto, Scatter, Histogram, </a:t>
            </a:r>
          </a:p>
        </p:txBody>
      </p:sp>
      <p:sp>
        <p:nvSpPr>
          <p:cNvPr id="10" name="Rectangle 53"/>
          <p:cNvSpPr>
            <a:spLocks noChangeArrowheads="1"/>
          </p:cNvSpPr>
          <p:nvPr/>
        </p:nvSpPr>
        <p:spPr bwMode="auto">
          <a:xfrm>
            <a:off x="2008109" y="3801848"/>
            <a:ext cx="8280400" cy="998753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/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mingguan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SLA yang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tercapai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akar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penyebabnya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Merancang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SOP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lanjutan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termasuk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alur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eskalasi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template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pelatihan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service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dan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memastikan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benchmarking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care best practice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peningkatan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berkelanjutan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analitik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lanjutan</a:t>
            </a:r>
            <a:endParaRPr lang="id-ID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930400" y="4797426"/>
            <a:ext cx="4927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14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Potensi</a:t>
            </a:r>
            <a:r>
              <a:rPr lang="en-US" sz="14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Re-</a:t>
            </a:r>
            <a:r>
              <a:rPr lang="en-US" sz="12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Implementasi</a:t>
            </a:r>
            <a:r>
              <a:rPr lang="en-US" sz="14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di </a:t>
            </a:r>
            <a:r>
              <a:rPr lang="en-US" sz="1400" b="1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Tempat</a:t>
            </a:r>
            <a:r>
              <a:rPr lang="en-US" sz="14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lain</a:t>
            </a:r>
          </a:p>
        </p:txBody>
      </p:sp>
      <p:sp>
        <p:nvSpPr>
          <p:cNvPr id="12" name="TextBox 3"/>
          <p:cNvSpPr txBox="1">
            <a:spLocks noChangeArrowheads="1"/>
          </p:cNvSpPr>
          <p:nvPr/>
        </p:nvSpPr>
        <p:spPr bwMode="auto">
          <a:xfrm>
            <a:off x="1900904" y="5105401"/>
            <a:ext cx="63134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Apakah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project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berpotensi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diimplementasikan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di 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wilayah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lain (</a:t>
            </a:r>
            <a:r>
              <a:rPr lang="en-US" sz="12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cabang</a:t>
            </a:r>
            <a:r>
              <a:rPr lang="en-US" sz="1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/site)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2006600" y="5496872"/>
            <a:ext cx="8280400" cy="9906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/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Sangat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potensial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diterapkan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cabang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 Mitra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Bakti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pengaduan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terukur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bersifat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universal.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nasional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menangani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internal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eksternal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Cocok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diimplementasikan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unit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facility management,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office support, dan operation unit.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lintas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divisi,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terpadu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(multiservice digital care).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 model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pelayanan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yang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direplikasi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site,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area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3"/>
          <p:cNvSpPr>
            <a:spLocks noChangeArrowheads="1"/>
          </p:cNvSpPr>
          <p:nvPr/>
        </p:nvSpPr>
        <p:spPr bwMode="auto">
          <a:xfrm>
            <a:off x="2006600" y="2079403"/>
            <a:ext cx="8280400" cy="998753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/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rendahnya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adopsi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sosialisasi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merata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familiar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HaloMitra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Ketidakpatuhan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SOP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penanganan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menyebabkan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SLA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tercapai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Keterbatasan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(CRM, dashboard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lain) yang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menghambat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aliran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real-time.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Ketergantungan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admin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hadir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melambat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seragam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cabang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standardisasi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ID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d-ID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2" descr="pt bakti optima ca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774" y="1727"/>
            <a:ext cx="2703227" cy="14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99" y="126418"/>
            <a:ext cx="2373594" cy="1091956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cJLIhZ2TEaetXvLX56CT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cJLIhZ2TEaetXvLX56CT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cJLIhZ2TEaetXvLX56CT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2708</Words>
  <Application>Microsoft Office PowerPoint</Application>
  <PresentationFormat>Layar Lebar</PresentationFormat>
  <Paragraphs>358</Paragraphs>
  <Slides>14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8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14</vt:i4>
      </vt:variant>
    </vt:vector>
  </HeadingPairs>
  <TitlesOfParts>
    <vt:vector size="23" baseType="lpstr">
      <vt:lpstr>Aharoni</vt:lpstr>
      <vt:lpstr>Arial</vt:lpstr>
      <vt:lpstr>Berlin Sans FB Demi</vt:lpstr>
      <vt:lpstr>Calibri</vt:lpstr>
      <vt:lpstr>Calibri Light</vt:lpstr>
      <vt:lpstr>Futura Md BT</vt:lpstr>
      <vt:lpstr>Times New Roman</vt:lpstr>
      <vt:lpstr>Verdana</vt:lpstr>
      <vt:lpstr>Office Theme</vt:lpstr>
      <vt:lpstr> .............................................  (Judul)  .............................................  (Deskripsi Judul)   </vt:lpstr>
      <vt:lpstr>Presentasi PowerPoint</vt:lpstr>
      <vt:lpstr>1. Pemetaan</vt:lpstr>
      <vt:lpstr>Presentasi PowerPoint</vt:lpstr>
      <vt:lpstr>3. Pencarian Akar Masalah</vt:lpstr>
      <vt:lpstr>Presentasi PowerPoint</vt:lpstr>
      <vt:lpstr>Presentasi PowerPoint</vt:lpstr>
      <vt:lpstr>5. Perencanaan </vt:lpstr>
      <vt:lpstr>5. Perencanaan</vt:lpstr>
      <vt:lpstr>5. Perencanaan</vt:lpstr>
      <vt:lpstr>6. Implementasi</vt:lpstr>
      <vt:lpstr>7. Review</vt:lpstr>
      <vt:lpstr>8. Standarisasi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_x000b_.............................................  (Judul)  .............................................  (Deskripsi Judul)   </dc:title>
  <dc:creator/>
  <cp:lastModifiedBy>Muhandis Lawdza'i Putra Sanjaya</cp:lastModifiedBy>
  <cp:revision>3</cp:revision>
  <dcterms:created xsi:type="dcterms:W3CDTF">2021-03-19T17:31:26Z</dcterms:created>
  <dcterms:modified xsi:type="dcterms:W3CDTF">2025-12-05T07:17:25Z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1057-11.2.0.10017</vt:lpwstr>
  </property>
</Properties>
</file>